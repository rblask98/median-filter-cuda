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65" r:id="rId16"/>
    <p:sldId id="281" r:id="rId17"/>
    <p:sldId id="282" r:id="rId18"/>
    <p:sldId id="283" r:id="rId19"/>
    <p:sldId id="284" r:id="rId20"/>
    <p:sldId id="285" r:id="rId21"/>
    <p:sldId id="275" r:id="rId22"/>
    <p:sldId id="276" r:id="rId23"/>
    <p:sldId id="277" r:id="rId24"/>
    <p:sldId id="278" r:id="rId25"/>
    <p:sldId id="280" r:id="rId26"/>
    <p:sldId id="279" r:id="rId27"/>
    <p:sldId id="293" r:id="rId28"/>
    <p:sldId id="294" r:id="rId2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97" d="100"/>
          <a:sy n="97" d="100"/>
        </p:scale>
        <p:origin x="674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blas\Desktop\NAR-statistikav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- GPU vs. GPU Shared - 487x730 - Block Size=4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GPU - Shared Memory</c:f>
              <c:strCache>
                <c:ptCount val="1"/>
                <c:pt idx="0">
                  <c:v>GPU - Shared Memory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Sheet1!$AI$41:$AL$41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Sheet1!$AI$37:$AL$37</c:f>
              <c:numCache>
                <c:formatCode>General</c:formatCode>
                <c:ptCount val="4"/>
                <c:pt idx="0">
                  <c:v>9</c:v>
                </c:pt>
                <c:pt idx="1">
                  <c:v>12</c:v>
                </c:pt>
                <c:pt idx="2">
                  <c:v>12</c:v>
                </c:pt>
                <c:pt idx="3">
                  <c:v>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B2F-4277-BE06-DD852A330B18}"/>
            </c:ext>
          </c:extLst>
        </c:ser>
        <c:ser>
          <c:idx val="1"/>
          <c:order val="1"/>
          <c:tx>
            <c:strRef>
              <c:f>GPU</c:f>
              <c:strCache>
                <c:ptCount val="1"/>
                <c:pt idx="0">
                  <c:v>GPU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Sheet1!$AI$41:$AL$41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Sheet1!$AI$43:$AL$43</c:f>
              <c:numCache>
                <c:formatCode>General</c:formatCode>
                <c:ptCount val="4"/>
                <c:pt idx="0">
                  <c:v>28</c:v>
                </c:pt>
                <c:pt idx="1">
                  <c:v>30</c:v>
                </c:pt>
                <c:pt idx="2">
                  <c:v>28</c:v>
                </c:pt>
                <c:pt idx="3">
                  <c:v>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B2F-4277-BE06-DD852A330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9"/>
          <c:min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Dimenzija median filtra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  <c:majorUnit val="2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[ms]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horzOverflow="overflow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- GPU vs. GPU Shared - 487x730 - Block Size=16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GPU - Shared Memory</c:f>
              <c:strCache>
                <c:ptCount val="1"/>
                <c:pt idx="0">
                  <c:v>GPU - Shared Memory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Sheet1!$AI$41:$AL$41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Sheet1!$AI$38:$AL$38</c:f>
              <c:numCache>
                <c:formatCode>General</c:formatCode>
                <c:ptCount val="4"/>
                <c:pt idx="0">
                  <c:v>19</c:v>
                </c:pt>
                <c:pt idx="1">
                  <c:v>13</c:v>
                </c:pt>
                <c:pt idx="2">
                  <c:v>13</c:v>
                </c:pt>
                <c:pt idx="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CF-4F37-8B8F-7CA127F6561B}"/>
            </c:ext>
          </c:extLst>
        </c:ser>
        <c:ser>
          <c:idx val="1"/>
          <c:order val="1"/>
          <c:tx>
            <c:strRef>
              <c:f>GPU</c:f>
              <c:strCache>
                <c:ptCount val="1"/>
                <c:pt idx="0">
                  <c:v>GPU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Sheet1!$AI$41:$AL$41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Sheet1!$AI$44:$AL$44</c:f>
              <c:numCache>
                <c:formatCode>General</c:formatCode>
                <c:ptCount val="4"/>
                <c:pt idx="0">
                  <c:v>37</c:v>
                </c:pt>
                <c:pt idx="1">
                  <c:v>31</c:v>
                </c:pt>
                <c:pt idx="2">
                  <c:v>30</c:v>
                </c:pt>
                <c:pt idx="3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BCF-4F37-8B8F-7CA127F65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9"/>
          <c:min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Dimenzija median filtra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  <c:majorUnit val="2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[ms]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horzOverflow="overflow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- GPU Shared Memory - 487x730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Block size = 4</c:f>
              <c:strCache>
                <c:ptCount val="1"/>
                <c:pt idx="0">
                  <c:v>Block size = 4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Sheet1!$AI$35:$AL$35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Sheet1!$AI$37:$AL$37</c:f>
              <c:numCache>
                <c:formatCode>General</c:formatCode>
                <c:ptCount val="4"/>
                <c:pt idx="0">
                  <c:v>9</c:v>
                </c:pt>
                <c:pt idx="1">
                  <c:v>12</c:v>
                </c:pt>
                <c:pt idx="2">
                  <c:v>12</c:v>
                </c:pt>
                <c:pt idx="3">
                  <c:v>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65A-4570-A899-9CDC6D91D9B1}"/>
            </c:ext>
          </c:extLst>
        </c:ser>
        <c:ser>
          <c:idx val="1"/>
          <c:order val="1"/>
          <c:tx>
            <c:strRef>
              <c:f>Block size = 16</c:f>
              <c:strCache>
                <c:ptCount val="1"/>
                <c:pt idx="0">
                  <c:v>Block size = 16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Sheet1!$AI$35:$AL$35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Sheet1!$AI$38:$AL$38</c:f>
              <c:numCache>
                <c:formatCode>General</c:formatCode>
                <c:ptCount val="4"/>
                <c:pt idx="0">
                  <c:v>19</c:v>
                </c:pt>
                <c:pt idx="1">
                  <c:v>13</c:v>
                </c:pt>
                <c:pt idx="2">
                  <c:v>13</c:v>
                </c:pt>
                <c:pt idx="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65A-4570-A899-9CDC6D91D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9"/>
          <c:min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Dimenzija median filtra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  <c:minorUnit val="2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[ms]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horzOverflow="overflow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- GPU  - 487x730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Block size = 4</c:f>
              <c:strCache>
                <c:ptCount val="1"/>
                <c:pt idx="0">
                  <c:v>Block size = 4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Sheet1!$AI$41:$AL$41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Sheet1!$AI$43:$AL$43</c:f>
              <c:numCache>
                <c:formatCode>General</c:formatCode>
                <c:ptCount val="4"/>
                <c:pt idx="0">
                  <c:v>28</c:v>
                </c:pt>
                <c:pt idx="1">
                  <c:v>30</c:v>
                </c:pt>
                <c:pt idx="2">
                  <c:v>28</c:v>
                </c:pt>
                <c:pt idx="3">
                  <c:v>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F0-40E5-8509-4BFA36C31CA1}"/>
            </c:ext>
          </c:extLst>
        </c:ser>
        <c:ser>
          <c:idx val="1"/>
          <c:order val="1"/>
          <c:tx>
            <c:strRef>
              <c:f>Block size = 16</c:f>
              <c:strCache>
                <c:ptCount val="1"/>
                <c:pt idx="0">
                  <c:v>Block size = 16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Sheet1!$AI$41:$AL$41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xVal>
          <c:yVal>
            <c:numRef>
              <c:f>Sheet1!$AI$44:$AL$44</c:f>
              <c:numCache>
                <c:formatCode>General</c:formatCode>
                <c:ptCount val="4"/>
                <c:pt idx="0">
                  <c:v>37</c:v>
                </c:pt>
                <c:pt idx="1">
                  <c:v>31</c:v>
                </c:pt>
                <c:pt idx="2">
                  <c:v>30</c:v>
                </c:pt>
                <c:pt idx="3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F0-40E5-8509-4BFA36C31C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9"/>
          <c:min val="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Dimenzija median filtra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  <c:majorUnit val="2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[ms]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horzOverflow="overflow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3x3 - GPU</a:t>
            </a:r>
            <a:r>
              <a:rPr lang="hr-HR"/>
              <a:t> vs. GPU</a:t>
            </a:r>
            <a:r>
              <a:rPr lang="de-DE"/>
              <a:t> Shared Memory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GPU Shared Memory</c:f>
              <c:strCache>
                <c:ptCount val="1"/>
                <c:pt idx="0">
                  <c:v>GPU Shared Memory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r-Latn-R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Sheet1!$H$69:$H$74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xVal>
          <c:yVal>
            <c:numRef>
              <c:f>Sheet1!$I$69:$I$74</c:f>
              <c:numCache>
                <c:formatCode>General</c:formatCode>
                <c:ptCount val="6"/>
                <c:pt idx="0">
                  <c:v>9</c:v>
                </c:pt>
                <c:pt idx="1">
                  <c:v>12</c:v>
                </c:pt>
                <c:pt idx="2">
                  <c:v>12</c:v>
                </c:pt>
                <c:pt idx="3">
                  <c:v>8</c:v>
                </c:pt>
                <c:pt idx="4">
                  <c:v>9</c:v>
                </c:pt>
                <c:pt idx="5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81-4DCE-ACEE-DE266362E3C2}"/>
            </c:ext>
          </c:extLst>
        </c:ser>
        <c:ser>
          <c:idx val="1"/>
          <c:order val="1"/>
          <c:tx>
            <c:strRef>
              <c:f>GPU</c:f>
              <c:strCache>
                <c:ptCount val="1"/>
                <c:pt idx="0">
                  <c:v>GPU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r-Latn-R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Sheet1!$Q$69:$Q$74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xVal>
          <c:yVal>
            <c:numRef>
              <c:f>Sheet1!$R$69:$R$74</c:f>
              <c:numCache>
                <c:formatCode>General</c:formatCode>
                <c:ptCount val="6"/>
                <c:pt idx="0">
                  <c:v>29</c:v>
                </c:pt>
                <c:pt idx="1">
                  <c:v>30</c:v>
                </c:pt>
                <c:pt idx="2">
                  <c:v>34</c:v>
                </c:pt>
                <c:pt idx="3">
                  <c:v>27</c:v>
                </c:pt>
                <c:pt idx="4">
                  <c:v>30</c:v>
                </c:pt>
                <c:pt idx="5">
                  <c:v>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81-4DCE-ACEE-DE266362E3C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logBase val="2"/>
          <c:orientation val="minMax"/>
          <c:max val="32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Block Size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[us]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horzOverflow="overflow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3x3 - CPU - BLOCK_SIZE=4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r-Latn-R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Sheet1!$AI$5:$AI$11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Sheet1!$AJ$5:$AJ$11</c:f>
              <c:numCache>
                <c:formatCode>General</c:formatCode>
                <c:ptCount val="7"/>
                <c:pt idx="0">
                  <c:v>47.997</c:v>
                </c:pt>
                <c:pt idx="1">
                  <c:v>46.44</c:v>
                </c:pt>
                <c:pt idx="2">
                  <c:v>57.435000000000002</c:v>
                </c:pt>
                <c:pt idx="3">
                  <c:v>30.815000000000001</c:v>
                </c:pt>
                <c:pt idx="4">
                  <c:v>362.60599999999999</c:v>
                </c:pt>
                <c:pt idx="5">
                  <c:v>139.06299999999999</c:v>
                </c:pt>
                <c:pt idx="6">
                  <c:v>45.963000000000001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93-478B-8595-1C394A1360F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7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Slika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[ms]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3x3 - GPU Shared Memory - BLOCK_SIZE=4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r-Latn-R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Sheet1!$AH$15:$AH$21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Sheet1!$AJ$15:$AJ$21</c:f>
              <c:numCache>
                <c:formatCode>General</c:formatCode>
                <c:ptCount val="7"/>
                <c:pt idx="0">
                  <c:v>11</c:v>
                </c:pt>
                <c:pt idx="1">
                  <c:v>12</c:v>
                </c:pt>
                <c:pt idx="2">
                  <c:v>11</c:v>
                </c:pt>
                <c:pt idx="3">
                  <c:v>16</c:v>
                </c:pt>
                <c:pt idx="4">
                  <c:v>22</c:v>
                </c:pt>
                <c:pt idx="5">
                  <c:v>20</c:v>
                </c:pt>
                <c:pt idx="6">
                  <c:v>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6B-4955-95B6-738F6D4DBCE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7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Slika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[us]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Median filtar 3x3 - GPU </a:t>
            </a:r>
            <a:r>
              <a:rPr lang="de-DE" baseline="0"/>
              <a:t>- BLOCK_SIZE=4</a:t>
            </a:r>
            <a:endParaRPr lang="hr-H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r-Latn-R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r-Latn-R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Sheet1!$AH$25:$AH$31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Sheet1!$AJ$25:$AJ$31</c:f>
              <c:numCache>
                <c:formatCode>General</c:formatCode>
                <c:ptCount val="7"/>
                <c:pt idx="0">
                  <c:v>29</c:v>
                </c:pt>
                <c:pt idx="1">
                  <c:v>31</c:v>
                </c:pt>
                <c:pt idx="2">
                  <c:v>28</c:v>
                </c:pt>
                <c:pt idx="3">
                  <c:v>32</c:v>
                </c:pt>
                <c:pt idx="4">
                  <c:v>37</c:v>
                </c:pt>
                <c:pt idx="5">
                  <c:v>34</c:v>
                </c:pt>
                <c:pt idx="6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A8A-4AC0-84C1-C76A2B5ABD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31070920"/>
        <c:axId val="309326520"/>
      </c:scatterChart>
      <c:valAx>
        <c:axId val="331070920"/>
        <c:scaling>
          <c:orientation val="minMax"/>
          <c:max val="7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Slika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09326520"/>
        <c:crosses val="autoZero"/>
        <c:crossBetween val="midCat"/>
      </c:valAx>
      <c:valAx>
        <c:axId val="3093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Vrijeme [us]</a:t>
                </a:r>
                <a:endParaRPr lang="hr-H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r-Latn-R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3310709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  <a:endParaRPr lang="sr-Latn-R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>
            <a:extLst>
              <a:ext uri="{FF2B5EF4-FFF2-40B4-BE49-F238E27FC236}">
                <a16:creationId xmlns:a16="http://schemas.microsoft.com/office/drawing/2014/main" id="{6BDF72F5-F085-4C2C-86AC-7C1A8272FE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BA2AB432-E16C-4D2F-BD4E-FA59FA4DD0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FBF26-C46D-4ABB-BB54-F247FC185666}" type="datetimeFigureOut">
              <a:rPr lang="hr-HR" smtClean="0"/>
              <a:t>4.1.2026.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CF2B24DC-D632-4B50-9820-889412525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30F4BD03-1C24-4A6D-927F-9AAF3F811A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830BA-A0B0-4DF2-99A7-85D58958FB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54480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B67BF-FB23-4618-87D7-451255CCBA95}" type="datetimeFigureOut">
              <a:rPr lang="hr-HR" smtClean="0"/>
              <a:t>4.1.2026.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3AE47-2B4F-41A8-B7B3-240282AB549D}" type="slidenum">
              <a:rPr lang="hr-HR" smtClean="0"/>
              <a:t>‹#›</a:t>
            </a:fld>
            <a:endParaRPr lang="hr-H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CC1DF-AFE8-4571-8780-00CB44490DEF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1F5FD-57EA-4FDB-AD7B-37B675CBCBCC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 dirty="0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7274-CAC6-4B0B-B9E4-9F8476699048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E35D-8E54-48B0-A1BF-1DB36EEADB5B}" type="datetime1">
              <a:rPr lang="hr-HR" smtClean="0"/>
              <a:t>4.1.2026.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3837-86B0-4440-9060-AD60359C82C7}" type="datetime1">
              <a:rPr lang="hr-HR" smtClean="0"/>
              <a:t>4.1.2026.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42FD0-2F47-471A-A1DD-1EE8DC092EE2}" type="datetime1">
              <a:rPr lang="hr-HR" smtClean="0"/>
              <a:t>4.1.2026.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B74E-7D57-4090-BAE9-B9B1D59276D6}" type="datetime1">
              <a:rPr lang="hr-HR" smtClean="0"/>
              <a:t>4.1.2026.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54F9-EF70-46C6-BF06-E2F9251E7082}" type="datetime1">
              <a:rPr lang="hr-HR" smtClean="0"/>
              <a:t>4.1.2026.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4D29-B0F3-4892-809C-F1585D4BED87}" type="datetime1">
              <a:rPr lang="hr-HR" smtClean="0"/>
              <a:t>4.1.2026.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6A06-5C46-47BE-B75C-5F44AFC03C0E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A818-CEF0-4DE4-9170-5636C2433F27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ADB00-2D36-4281-8BDB-5BFF53803D95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FF35C-F94B-44D0-8B59-FD5E4E1222FB}" type="slidenum">
              <a:rPr lang="hr-HR" smtClean="0"/>
              <a:t>‹#›</a:t>
            </a:fld>
            <a:endParaRPr lang="hr-H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35281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hr-HR" dirty="0">
                <a:solidFill>
                  <a:schemeClr val="bg1">
                    <a:lumMod val="50000"/>
                  </a:schemeClr>
                </a:solidFill>
              </a:rPr>
              <a:t>Izradili:</a:t>
            </a:r>
          </a:p>
          <a:p>
            <a:pPr algn="r"/>
            <a:r>
              <a:rPr lang="hr-HR" smtClean="0">
                <a:solidFill>
                  <a:schemeClr val="bg1">
                    <a:lumMod val="50000"/>
                  </a:schemeClr>
                </a:solidFill>
              </a:rPr>
              <a:t>Robert </a:t>
            </a:r>
            <a:r>
              <a:rPr lang="hr-HR" dirty="0" err="1">
                <a:solidFill>
                  <a:schemeClr val="bg1">
                    <a:lumMod val="50000"/>
                  </a:schemeClr>
                </a:solidFill>
              </a:rPr>
              <a:t>Blaškić</a:t>
            </a:r>
            <a:endParaRPr lang="hr-H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fik 14" descr="UNIS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00976" y="361162"/>
            <a:ext cx="938201" cy="792088"/>
          </a:xfrm>
          <a:prstGeom prst="rect">
            <a:avLst/>
          </a:prstGeom>
        </p:spPr>
      </p:pic>
      <p:sp>
        <p:nvSpPr>
          <p:cNvPr id="5" name="Textfeld 9"/>
          <p:cNvSpPr txBox="1"/>
          <p:nvPr/>
        </p:nvSpPr>
        <p:spPr>
          <a:xfrm>
            <a:off x="3400441" y="723191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>
                    <a:lumMod val="50000"/>
                  </a:schemeClr>
                </a:solidFill>
              </a:rPr>
              <a:t>Fakultet elektrotehnike, strojarstva i brodogradnje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feld 4"/>
          <p:cNvSpPr txBox="1"/>
          <p:nvPr/>
        </p:nvSpPr>
        <p:spPr>
          <a:xfrm>
            <a:off x="3976505" y="435159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>
                    <a:lumMod val="50000"/>
                  </a:schemeClr>
                </a:solidFill>
              </a:rPr>
              <a:t>Sveučilište u Splitu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Grafik 15" descr="FES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02265" y="505178"/>
            <a:ext cx="1171189" cy="5040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4000" y="20272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NAPREDNE ARHITEKTURE RA</a:t>
            </a:r>
            <a:r>
              <a:rPr lang="hr-HR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ČUNALA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9755" y="2984607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4400" b="1" dirty="0" err="1">
                <a:solidFill>
                  <a:schemeClr val="accent6">
                    <a:lumMod val="75000"/>
                  </a:schemeClr>
                </a:solidFill>
              </a:rPr>
              <a:t>Median</a:t>
            </a:r>
            <a:r>
              <a:rPr lang="hr-HR" sz="4400" b="1" dirty="0">
                <a:solidFill>
                  <a:schemeClr val="accent6">
                    <a:lumMod val="75000"/>
                  </a:schemeClr>
                </a:solidFill>
              </a:rPr>
              <a:t> filtar realiziran u CUDI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hr-HR" dirty="0"/>
              <a:t>Uvod</a:t>
            </a:r>
          </a:p>
          <a:p>
            <a:pPr marL="514350" indent="-514350">
              <a:buAutoNum type="arabicPeriod"/>
            </a:pPr>
            <a:r>
              <a:rPr lang="hr-HR" dirty="0" err="1"/>
              <a:t>Median</a:t>
            </a:r>
            <a:r>
              <a:rPr lang="hr-HR" dirty="0"/>
              <a:t> filtar</a:t>
            </a:r>
          </a:p>
          <a:p>
            <a:pPr marL="514350" indent="-514350">
              <a:buAutoNum type="arabicPeriod"/>
            </a:pPr>
            <a:r>
              <a:rPr lang="hr-HR" dirty="0"/>
              <a:t>NVIDIA CUDA </a:t>
            </a:r>
            <a:r>
              <a:rPr lang="hr-HR" dirty="0" err="1"/>
              <a:t>Toolkit</a:t>
            </a:r>
            <a:endParaRPr lang="hr-HR" dirty="0"/>
          </a:p>
          <a:p>
            <a:pPr marL="514350" indent="-514350">
              <a:buAutoNum type="arabicPeriod"/>
            </a:pPr>
            <a:r>
              <a:rPr lang="hr-HR" dirty="0" err="1"/>
              <a:t>OpenCV</a:t>
            </a:r>
            <a:endParaRPr lang="hr-HR" dirty="0"/>
          </a:p>
          <a:p>
            <a:pPr marL="514350" indent="-514350">
              <a:buAutoNum type="arabicPeriod"/>
            </a:pPr>
            <a:r>
              <a:rPr lang="hr-HR" dirty="0"/>
              <a:t>Programski kod i rezultati obrade filtrom</a:t>
            </a:r>
          </a:p>
          <a:p>
            <a:pPr marL="514350" indent="-514350">
              <a:buAutoNum type="arabicPeriod"/>
            </a:pPr>
            <a:r>
              <a:rPr lang="hr-HR" dirty="0"/>
              <a:t>Analiza GPU arhitekture i performansi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hr-HR" dirty="0"/>
              <a:t>Kritička analiza performansi</a:t>
            </a:r>
          </a:p>
          <a:p>
            <a:pPr marL="514350" indent="-514350">
              <a:buAutoNum type="arabicPeriod"/>
            </a:pPr>
            <a:r>
              <a:rPr lang="hr-HR" dirty="0"/>
              <a:t>Zaključak</a:t>
            </a:r>
          </a:p>
          <a:p>
            <a:pPr marL="514350" indent="-514350">
              <a:buAutoNum type="arabicPeriod"/>
            </a:pP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DF573-AA7B-4F2A-8200-4AE79A175D67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Fakultet</a:t>
            </a:r>
            <a:r>
              <a:rPr lang="en-GB" dirty="0"/>
              <a:t> </a:t>
            </a:r>
            <a:r>
              <a:rPr lang="en-GB" dirty="0" err="1"/>
              <a:t>elektrotehnike</a:t>
            </a:r>
            <a:r>
              <a:rPr lang="en-GB" dirty="0"/>
              <a:t>, </a:t>
            </a:r>
            <a:r>
              <a:rPr lang="en-GB" dirty="0" err="1"/>
              <a:t>strojarstva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brodogradnje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125" y="2086434"/>
            <a:ext cx="3685675" cy="276425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Uvod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3938" y="2416013"/>
            <a:ext cx="8724123" cy="3340360"/>
          </a:xfrm>
        </p:spPr>
        <p:txBody>
          <a:bodyPr/>
          <a:lstStyle/>
          <a:p>
            <a:r>
              <a:rPr lang="hr-HR" dirty="0"/>
              <a:t>Zadatak: obrada slike na GPU pomoću CUDA paralelne platforme i </a:t>
            </a:r>
            <a:r>
              <a:rPr lang="hr-HR" dirty="0" err="1"/>
              <a:t>median</a:t>
            </a:r>
            <a:r>
              <a:rPr lang="hr-HR" dirty="0"/>
              <a:t> filtra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Implementacija filtra: pomoću Nvidia CUDA </a:t>
            </a:r>
            <a:r>
              <a:rPr lang="hr-HR" dirty="0" err="1"/>
              <a:t>Toolkit</a:t>
            </a:r>
            <a:r>
              <a:rPr lang="hr-HR" dirty="0"/>
              <a:t>-a i </a:t>
            </a:r>
            <a:r>
              <a:rPr lang="hr-HR" dirty="0" err="1"/>
              <a:t>OpenCV</a:t>
            </a:r>
            <a:r>
              <a:rPr lang="hr-HR" dirty="0"/>
              <a:t> biblioteke.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C162B-3859-43E0-B267-B17F16CE147A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3</a:t>
            </a:fld>
            <a:endParaRPr lang="hr-H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 err="1"/>
              <a:t>Median</a:t>
            </a:r>
            <a:r>
              <a:rPr lang="hr-HR" dirty="0"/>
              <a:t> filtar</a:t>
            </a:r>
          </a:p>
        </p:txBody>
      </p:sp>
      <p:pic>
        <p:nvPicPr>
          <p:cNvPr id="7" name="Rezervirano mjesto sadržaja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623" y="1933284"/>
            <a:ext cx="7986753" cy="36764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59A8-6DD4-4662-BFA7-59AA764EF843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4</a:t>
            </a:fld>
            <a:endParaRPr lang="hr-H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NVIDIA CUDA </a:t>
            </a:r>
            <a:r>
              <a:rPr lang="hr-HR" dirty="0" err="1"/>
              <a:t>Toolkit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012" y="1847850"/>
            <a:ext cx="6187751" cy="4351338"/>
          </a:xfrm>
        </p:spPr>
        <p:txBody>
          <a:bodyPr/>
          <a:lstStyle/>
          <a:p>
            <a:r>
              <a:rPr lang="hr-HR" sz="2800" dirty="0">
                <a:sym typeface="+mn-ea"/>
              </a:rPr>
              <a:t>CUDA</a:t>
            </a:r>
          </a:p>
          <a:p>
            <a:pPr lvl="1"/>
            <a:r>
              <a:rPr lang="hr-HR" sz="2800" dirty="0">
                <a:sym typeface="+mn-ea"/>
              </a:rPr>
              <a:t>paralelna računalna platforma</a:t>
            </a:r>
          </a:p>
          <a:p>
            <a:pPr lvl="0"/>
            <a:r>
              <a:rPr lang="hr-HR" sz="2800" dirty="0">
                <a:sym typeface="+mn-ea"/>
              </a:rPr>
              <a:t>CUDA </a:t>
            </a:r>
            <a:r>
              <a:rPr lang="hr-HR" sz="2800" dirty="0" err="1">
                <a:sym typeface="+mn-ea"/>
              </a:rPr>
              <a:t>Toolkit</a:t>
            </a:r>
            <a:endParaRPr lang="hr-HR" sz="2800" dirty="0"/>
          </a:p>
          <a:p>
            <a:pPr lvl="1"/>
            <a:r>
              <a:rPr lang="hr-HR" sz="2800" dirty="0">
                <a:sym typeface="+mn-ea"/>
              </a:rPr>
              <a:t>ubrzane GPU aplikacije</a:t>
            </a:r>
          </a:p>
          <a:p>
            <a:pPr lvl="1"/>
            <a:r>
              <a:rPr lang="hr-HR" sz="2800" dirty="0">
                <a:sym typeface="+mn-ea"/>
              </a:rPr>
              <a:t>upravljački program</a:t>
            </a:r>
          </a:p>
          <a:p>
            <a:pPr lvl="1"/>
            <a:r>
              <a:rPr lang="hr-HR" sz="2800" dirty="0">
                <a:sym typeface="+mn-ea"/>
              </a:rPr>
              <a:t>razne biblioteke</a:t>
            </a:r>
          </a:p>
          <a:p>
            <a:pPr lvl="1"/>
            <a:r>
              <a:rPr lang="hr-HR" sz="2800" dirty="0">
                <a:sym typeface="+mn-ea"/>
              </a:rPr>
              <a:t>kompajler</a:t>
            </a:r>
          </a:p>
          <a:p>
            <a:pPr lvl="1"/>
            <a:r>
              <a:rPr lang="hr-HR" sz="2800" dirty="0">
                <a:sym typeface="+mn-ea"/>
              </a:rPr>
              <a:t>primjeri CUDA programa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C93A-972B-4E35-8622-5C5E989E6C98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5</a:t>
            </a:fld>
            <a:endParaRPr lang="hr-H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r-HR" dirty="0" err="1"/>
              <a:t>OpenCV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5318" y="1847850"/>
            <a:ext cx="9294845" cy="4351338"/>
          </a:xfrm>
        </p:spPr>
        <p:txBody>
          <a:bodyPr/>
          <a:lstStyle/>
          <a:p>
            <a:r>
              <a:rPr lang="hr-HR" sz="2800" dirty="0">
                <a:sym typeface="+mn-ea"/>
              </a:rPr>
              <a:t>Biblioteka otvorenog izvora</a:t>
            </a:r>
          </a:p>
          <a:p>
            <a:r>
              <a:rPr lang="hr-HR" sz="2800" dirty="0">
                <a:sym typeface="+mn-ea"/>
              </a:rPr>
              <a:t>Područje računalnog vida</a:t>
            </a:r>
          </a:p>
          <a:p>
            <a:r>
              <a:rPr lang="hr-HR" sz="2800" dirty="0">
                <a:sym typeface="+mn-ea"/>
              </a:rPr>
              <a:t>Za potrebe seminara koristi se za uklanjanje šuma iz slike</a:t>
            </a:r>
          </a:p>
          <a:p>
            <a:r>
              <a:rPr lang="hr-HR" sz="2800" dirty="0">
                <a:sym typeface="+mn-ea"/>
              </a:rPr>
              <a:t>Druge primjene:</a:t>
            </a:r>
          </a:p>
          <a:p>
            <a:pPr lvl="1"/>
            <a:r>
              <a:rPr lang="hr-HR" sz="2800" dirty="0">
                <a:sym typeface="+mn-ea"/>
              </a:rPr>
              <a:t>Detekcija teksta na slikama</a:t>
            </a:r>
          </a:p>
          <a:p>
            <a:pPr lvl="1"/>
            <a:r>
              <a:rPr lang="hr-HR" sz="2800" dirty="0">
                <a:sym typeface="+mn-ea"/>
              </a:rPr>
              <a:t>Detekcija i zamagljivanje lica</a:t>
            </a:r>
          </a:p>
          <a:p>
            <a:pPr lvl="1"/>
            <a:r>
              <a:rPr lang="hr-HR" sz="2800" dirty="0">
                <a:sym typeface="+mn-ea"/>
              </a:rPr>
              <a:t>Prepoznavanje drugih objekata, npr. u proizvodnom procesu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3D4B5-5A01-43FA-B916-AB90CDD7F987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6</a:t>
            </a:fld>
            <a:endParaRPr lang="hr-H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4400" dirty="0"/>
              <a:t>Programski kod i rezultati 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89AD0-F126-4E63-B8E2-2A5053EB8C00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7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02" y="1889772"/>
            <a:ext cx="5956596" cy="3742334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52423" y="1535502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de-DE" sz="1200" dirty="0" err="1"/>
              <a:t>main</a:t>
            </a:r>
            <a:r>
              <a:rPr lang="de-DE" sz="1200" dirty="0"/>
              <a:t>() </a:t>
            </a:r>
            <a:r>
              <a:rPr lang="de-DE" sz="1200" dirty="0" err="1"/>
              <a:t>funkcija</a:t>
            </a:r>
            <a:r>
              <a:rPr lang="de-DE" sz="1200" dirty="0"/>
              <a:t>:</a:t>
            </a:r>
            <a:endParaRPr lang="hr-HR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7398595" y="1535502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de-DE" sz="1200" dirty="0" err="1"/>
              <a:t>predprocesori</a:t>
            </a:r>
            <a:r>
              <a:rPr lang="de-DE" sz="1200" dirty="0"/>
              <a:t>:</a:t>
            </a:r>
            <a:endParaRPr lang="hr-HR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65168" y="1889771"/>
            <a:ext cx="2553623" cy="2026499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260894" y="3493698"/>
            <a:ext cx="2690004" cy="88081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3" name="Straight Arrow Connector 12"/>
          <p:cNvCxnSpPr>
            <a:stCxn id="11" idx="3"/>
          </p:cNvCxnSpPr>
          <p:nvPr/>
        </p:nvCxnSpPr>
        <p:spPr>
          <a:xfrm flipV="1">
            <a:off x="3950898" y="3505391"/>
            <a:ext cx="673171" cy="32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3309" y="3299274"/>
            <a:ext cx="2087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Pozivanje HOST funkcije za obradu slike, koriste se resursi CPU (memorija…)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1819" y="2825370"/>
            <a:ext cx="5771072" cy="357556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546785" y="3182925"/>
            <a:ext cx="1591630" cy="1069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09660" y="4252339"/>
            <a:ext cx="2457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Informacije o učitanoj slici bitne kao argumenti za obradu slike implementiranim filtrom (visina, širina, kanali, veličina filtra)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1818" y="4120008"/>
            <a:ext cx="4632385" cy="8808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8" name="Rectangle 27"/>
          <p:cNvSpPr/>
          <p:nvPr/>
        </p:nvSpPr>
        <p:spPr>
          <a:xfrm>
            <a:off x="1181818" y="4441946"/>
            <a:ext cx="4632385" cy="8808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5546785" y="4530027"/>
            <a:ext cx="1668519" cy="7242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745191" y="4200482"/>
            <a:ext cx="1450577" cy="9446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8415" y="5031941"/>
            <a:ext cx="2980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Pozivanje HOST funkcije za pripremu resursi (DEVICE memorija) nužnih za CUDA izvođenje </a:t>
            </a:r>
            <a:r>
              <a:rPr lang="hr-HR" sz="1200" dirty="0" err="1"/>
              <a:t>median</a:t>
            </a:r>
            <a:r>
              <a:rPr lang="hr-HR" sz="1200" dirty="0"/>
              <a:t> filtra; </a:t>
            </a:r>
            <a:r>
              <a:rPr lang="hr-HR" sz="1200" dirty="0" err="1"/>
              <a:t>true</a:t>
            </a:r>
            <a:r>
              <a:rPr lang="hr-HR" sz="1200" dirty="0"/>
              <a:t>=koristi se dijeljenja (engl. </a:t>
            </a:r>
            <a:r>
              <a:rPr lang="hr-HR" sz="1200" dirty="0" err="1"/>
              <a:t>Shared</a:t>
            </a:r>
            <a:r>
              <a:rPr lang="hr-HR" sz="1200" dirty="0"/>
              <a:t>) memorija, </a:t>
            </a:r>
            <a:r>
              <a:rPr lang="hr-HR" sz="1200" dirty="0" err="1"/>
              <a:t>false</a:t>
            </a:r>
            <a:r>
              <a:rPr lang="hr-HR" sz="1200" dirty="0"/>
              <a:t>=ne koristi se dijeljena memorija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53064" y="4713371"/>
            <a:ext cx="2616679" cy="35755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3769743" y="4938801"/>
            <a:ext cx="392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081728" y="4555295"/>
            <a:ext cx="2087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Obrađeni podaci (CPU + GPU) filtrom se pohranjuju u </a:t>
            </a:r>
            <a:r>
              <a:rPr lang="hr-HR" sz="1200" dirty="0" err="1"/>
              <a:t>rezultatne</a:t>
            </a:r>
            <a:r>
              <a:rPr lang="hr-HR" sz="1200" dirty="0"/>
              <a:t> slike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65168" y="1890967"/>
            <a:ext cx="1923889" cy="25760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9489057" y="1964362"/>
            <a:ext cx="819509" cy="32172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118791" y="2299253"/>
            <a:ext cx="20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Potrebne biblioteke za rad s CUDA okolinom (</a:t>
            </a:r>
            <a:r>
              <a:rPr lang="hr-HR" sz="1200" dirty="0" err="1"/>
              <a:t>cudaMalloc</a:t>
            </a:r>
            <a:r>
              <a:rPr lang="hr-HR" sz="1200" dirty="0"/>
              <a:t>, </a:t>
            </a:r>
            <a:r>
              <a:rPr lang="hr-HR" sz="1200" dirty="0" err="1"/>
              <a:t>cudaMemcpy</a:t>
            </a:r>
            <a:r>
              <a:rPr lang="hr-HR" sz="1200" dirty="0"/>
              <a:t>, </a:t>
            </a:r>
            <a:r>
              <a:rPr lang="hr-HR" sz="1200" dirty="0" err="1"/>
              <a:t>cudaFree</a:t>
            </a:r>
            <a:r>
              <a:rPr lang="hr-HR" sz="1200" dirty="0"/>
              <a:t>, dim3 struktura, …)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65168" y="2148570"/>
            <a:ext cx="1923889" cy="4435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9156939" y="2579120"/>
            <a:ext cx="1151627" cy="6789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213679" y="3206940"/>
            <a:ext cx="20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Potrebne biblioteke za obradu slike koristeći </a:t>
            </a:r>
            <a:r>
              <a:rPr lang="hr-HR" sz="1200" dirty="0" err="1"/>
              <a:t>OpenCV</a:t>
            </a:r>
            <a:r>
              <a:rPr lang="hr-HR" sz="1200" dirty="0"/>
              <a:t> naredbi (</a:t>
            </a:r>
            <a:r>
              <a:rPr lang="hr-HR" sz="1200" dirty="0" err="1"/>
              <a:t>imread</a:t>
            </a:r>
            <a:r>
              <a:rPr lang="hr-HR" sz="1200" dirty="0"/>
              <a:t>, </a:t>
            </a:r>
            <a:r>
              <a:rPr lang="hr-HR" sz="1200" dirty="0" err="1"/>
              <a:t>channels</a:t>
            </a:r>
            <a:r>
              <a:rPr lang="hr-HR" sz="1200" dirty="0"/>
              <a:t>, </a:t>
            </a:r>
            <a:r>
              <a:rPr lang="hr-HR" sz="1200" dirty="0" err="1"/>
              <a:t>imwrite</a:t>
            </a:r>
            <a:r>
              <a:rPr lang="hr-HR" sz="1200" dirty="0"/>
              <a:t>, svojstva </a:t>
            </a:r>
            <a:r>
              <a:rPr lang="hr-HR" sz="1200" dirty="0" err="1"/>
              <a:t>rows</a:t>
            </a:r>
            <a:r>
              <a:rPr lang="hr-HR" sz="1200" dirty="0"/>
              <a:t>, </a:t>
            </a:r>
            <a:r>
              <a:rPr lang="hr-HR" sz="1200" dirty="0" err="1"/>
              <a:t>cols</a:t>
            </a:r>
            <a:r>
              <a:rPr lang="hr-HR" sz="1200" dirty="0"/>
              <a:t>, …)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9356" y="3479684"/>
            <a:ext cx="1923889" cy="20889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1" name="Rectangle 50"/>
          <p:cNvSpPr/>
          <p:nvPr/>
        </p:nvSpPr>
        <p:spPr>
          <a:xfrm>
            <a:off x="7563618" y="3719721"/>
            <a:ext cx="2339507" cy="20889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9172335" y="3935242"/>
            <a:ext cx="1151627" cy="6789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9435145" y="3698175"/>
            <a:ext cx="935963" cy="78185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270290" y="4375499"/>
            <a:ext cx="176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Definiranje veličine filtra, npr. 3x3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71999" y="3622264"/>
            <a:ext cx="1038601" cy="19349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8297596" y="3813883"/>
            <a:ext cx="1913957" cy="11062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158352" y="4863467"/>
            <a:ext cx="1763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Definiranje veličine </a:t>
            </a:r>
            <a:r>
              <a:rPr lang="hr-HR" sz="1200" dirty="0" err="1"/>
              <a:t>block</a:t>
            </a:r>
            <a:r>
              <a:rPr lang="hr-HR" sz="1200" dirty="0"/>
              <a:t>-a, koristi se za dimenzioniranje </a:t>
            </a:r>
            <a:r>
              <a:rPr lang="hr-HR" sz="1200" dirty="0" err="1"/>
              <a:t>dimGrid</a:t>
            </a:r>
            <a:r>
              <a:rPr lang="hr-HR" sz="1200" dirty="0"/>
              <a:t> i </a:t>
            </a:r>
            <a:r>
              <a:rPr lang="hr-HR" sz="1200" dirty="0" err="1"/>
              <a:t>dimBlocka</a:t>
            </a:r>
            <a:r>
              <a:rPr lang="hr-HR" sz="1200" dirty="0"/>
              <a:t>, pa time i pripadnih </a:t>
            </a:r>
            <a:r>
              <a:rPr lang="hr-HR" sz="1200" dirty="0" err="1"/>
              <a:t>threadova</a:t>
            </a:r>
            <a:endParaRPr lang="hr-HR" sz="1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 animBg="1"/>
      <p:bldP spid="17" grpId="0"/>
      <p:bldP spid="26" grpId="0" animBg="1"/>
      <p:bldP spid="28" grpId="0" animBg="1"/>
      <p:bldP spid="33" grpId="0"/>
      <p:bldP spid="36" grpId="0" animBg="1"/>
      <p:bldP spid="39" grpId="0"/>
      <p:bldP spid="40" grpId="0" animBg="1"/>
      <p:bldP spid="43" grpId="0"/>
      <p:bldP spid="45" grpId="0" animBg="1"/>
      <p:bldP spid="49" grpId="0"/>
      <p:bldP spid="50" grpId="0" animBg="1"/>
      <p:bldP spid="51" grpId="0" animBg="1"/>
      <p:bldP spid="56" grpId="0"/>
      <p:bldP spid="57" grpId="0" animBg="1"/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4400" dirty="0"/>
              <a:t>Programski kod i rezultati 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DC47-8EAD-4801-949B-A35D69C9196A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8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5002" y="1972251"/>
            <a:ext cx="7784129" cy="3926208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301262" y="2759222"/>
            <a:ext cx="4340413" cy="3674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639154" y="2776641"/>
            <a:ext cx="609246" cy="952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54151" y="2042402"/>
            <a:ext cx="26051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Definiranje 3D veličine </a:t>
            </a:r>
            <a:r>
              <a:rPr lang="hr-HR" sz="1200" dirty="0" err="1"/>
              <a:t>block</a:t>
            </a:r>
            <a:r>
              <a:rPr lang="hr-HR" sz="1200" dirty="0"/>
              <a:t>-a (BLOCK*BLOCK*1) i 3D veličine </a:t>
            </a:r>
            <a:r>
              <a:rPr lang="hr-HR" sz="1200" dirty="0" err="1"/>
              <a:t>grid</a:t>
            </a:r>
            <a:r>
              <a:rPr lang="hr-HR" sz="1200" dirty="0"/>
              <a:t>-a (</a:t>
            </a:r>
            <a:r>
              <a:rPr lang="hr-HR" sz="1200" dirty="0" err="1"/>
              <a:t>Width</a:t>
            </a:r>
            <a:r>
              <a:rPr lang="hr-HR" sz="1200" dirty="0"/>
              <a:t>/BLOCK * </a:t>
            </a:r>
            <a:r>
              <a:rPr lang="hr-HR" sz="1200" dirty="0" err="1"/>
              <a:t>Height</a:t>
            </a:r>
            <a:r>
              <a:rPr lang="hr-HR" sz="1200" dirty="0"/>
              <a:t>/</a:t>
            </a:r>
            <a:r>
              <a:rPr lang="hr-HR" sz="1200" dirty="0" err="1"/>
              <a:t>Block</a:t>
            </a:r>
            <a:r>
              <a:rPr lang="hr-HR" sz="1200" dirty="0"/>
              <a:t> * 1 ) koji se koriste prilikom pozivanja </a:t>
            </a:r>
            <a:r>
              <a:rPr lang="hr-HR" sz="1200" dirty="0" err="1"/>
              <a:t>kernela</a:t>
            </a:r>
            <a:r>
              <a:rPr lang="hr-HR" sz="1200" dirty="0"/>
              <a:t> </a:t>
            </a:r>
            <a:r>
              <a:rPr lang="hr-HR" sz="1200" dirty="0" err="1"/>
              <a:t>median</a:t>
            </a:r>
            <a:r>
              <a:rPr lang="hr-HR" sz="1200" dirty="0"/>
              <a:t> filtra!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9682" y="3235718"/>
            <a:ext cx="4632385" cy="2373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 flipV="1">
            <a:off x="5872067" y="2762307"/>
            <a:ext cx="3514276" cy="5920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92321" y="2282517"/>
            <a:ext cx="2605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Alokacija memorije na </a:t>
            </a:r>
            <a:r>
              <a:rPr lang="hr-HR" sz="1200" dirty="0" err="1"/>
              <a:t>device</a:t>
            </a:r>
            <a:r>
              <a:rPr lang="hr-HR" sz="1200" dirty="0"/>
              <a:t> (GPU), veličine </a:t>
            </a:r>
            <a:r>
              <a:rPr lang="hr-HR" sz="1200" dirty="0" err="1"/>
              <a:t>Height</a:t>
            </a:r>
            <a:r>
              <a:rPr lang="hr-HR" sz="1200" dirty="0"/>
              <a:t>*</a:t>
            </a:r>
            <a:r>
              <a:rPr lang="hr-HR" sz="1200" dirty="0" err="1"/>
              <a:t>Width</a:t>
            </a:r>
            <a:r>
              <a:rPr lang="hr-HR" sz="1200" dirty="0"/>
              <a:t>*</a:t>
            </a:r>
            <a:r>
              <a:rPr lang="hr-HR" sz="1200" dirty="0" err="1"/>
              <a:t>Channels</a:t>
            </a:r>
            <a:r>
              <a:rPr lang="hr-HR" sz="1200" dirty="0"/>
              <a:t>, slična alokaciji u C: </a:t>
            </a:r>
            <a:r>
              <a:rPr lang="hr-HR" sz="1200" dirty="0" err="1"/>
              <a:t>malloc</a:t>
            </a:r>
            <a:r>
              <a:rPr lang="hr-HR" sz="1200" dirty="0"/>
              <a:t> (</a:t>
            </a:r>
            <a:r>
              <a:rPr lang="hr-HR" sz="1200" dirty="0" err="1"/>
              <a:t>host</a:t>
            </a:r>
            <a:r>
              <a:rPr lang="hr-HR" sz="1200" dirty="0"/>
              <a:t>, CPU)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9027" y="3546330"/>
            <a:ext cx="5167223" cy="28404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16250" y="3714263"/>
            <a:ext cx="2704981" cy="86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21231" y="3295288"/>
            <a:ext cx="26051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Prebacivanje podataka slike iz </a:t>
            </a:r>
            <a:r>
              <a:rPr lang="hr-HR" sz="1200" dirty="0" err="1"/>
              <a:t>host</a:t>
            </a:r>
            <a:r>
              <a:rPr lang="hr-HR" sz="1200" dirty="0"/>
              <a:t> memorije u alocirani prostor na </a:t>
            </a:r>
            <a:r>
              <a:rPr lang="hr-HR" sz="1200" dirty="0" err="1"/>
              <a:t>device</a:t>
            </a:r>
            <a:r>
              <a:rPr lang="hr-HR" sz="1200" dirty="0"/>
              <a:t> memoriju da se osiguraju podaci za obradu na GPU; koriste se </a:t>
            </a:r>
            <a:r>
              <a:rPr lang="hr-HR" sz="1200" dirty="0" err="1"/>
              <a:t>pokazivaci</a:t>
            </a:r>
            <a:r>
              <a:rPr lang="hr-HR" sz="1200" dirty="0"/>
              <a:t> prethodno deklarirani i inicijalizirani s NULL. </a:t>
            </a:r>
          </a:p>
          <a:p>
            <a:r>
              <a:rPr lang="hr-HR" sz="1200" dirty="0"/>
              <a:t>Format: odredište (GPU), izvor (CPU), veličina niza podataka, </a:t>
            </a:r>
            <a:r>
              <a:rPr lang="hr-HR" sz="1200" dirty="0" err="1"/>
              <a:t>modCPU</a:t>
            </a:r>
            <a:r>
              <a:rPr lang="hr-HR" sz="1200" dirty="0"/>
              <a:t>-&gt;GPU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01262" y="4055224"/>
            <a:ext cx="4794738" cy="46037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0" name="Straight Arrow Connector 19"/>
          <p:cNvCxnSpPr>
            <a:stCxn id="19" idx="3"/>
          </p:cNvCxnSpPr>
          <p:nvPr/>
        </p:nvCxnSpPr>
        <p:spPr>
          <a:xfrm flipV="1">
            <a:off x="6096000" y="4147487"/>
            <a:ext cx="304800" cy="1379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11469" y="3809335"/>
            <a:ext cx="26051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Poziv </a:t>
            </a:r>
            <a:r>
              <a:rPr lang="hr-HR" sz="1200" dirty="0" err="1"/>
              <a:t>kernela</a:t>
            </a:r>
            <a:r>
              <a:rPr lang="hr-HR" sz="1200" dirty="0"/>
              <a:t> filtra (sa/bez </a:t>
            </a:r>
            <a:r>
              <a:rPr lang="hr-HR" sz="1200" dirty="0" err="1"/>
              <a:t>shared</a:t>
            </a:r>
            <a:r>
              <a:rPr lang="hr-HR" sz="1200" dirty="0"/>
              <a:t> memorije) koristeći </a:t>
            </a:r>
            <a:r>
              <a:rPr lang="hr-HR" sz="1200" dirty="0" err="1"/>
              <a:t>dimGrid</a:t>
            </a:r>
            <a:r>
              <a:rPr lang="hr-HR" sz="1200" dirty="0"/>
              <a:t> za broj </a:t>
            </a:r>
            <a:r>
              <a:rPr lang="hr-HR" sz="1200" dirty="0" err="1"/>
              <a:t>grid</a:t>
            </a:r>
            <a:r>
              <a:rPr lang="hr-HR" sz="1200" dirty="0"/>
              <a:t>-ova i </a:t>
            </a:r>
            <a:r>
              <a:rPr lang="hr-HR" sz="1200" dirty="0" err="1"/>
              <a:t>dimBlock</a:t>
            </a:r>
            <a:r>
              <a:rPr lang="hr-HR" sz="1200" dirty="0"/>
              <a:t> za broj blokova (Grid&gt;</a:t>
            </a:r>
            <a:r>
              <a:rPr lang="hr-HR" sz="1200" dirty="0" err="1"/>
              <a:t>Block</a:t>
            </a:r>
            <a:r>
              <a:rPr lang="hr-HR" sz="1200" dirty="0"/>
              <a:t>&gt;</a:t>
            </a:r>
            <a:r>
              <a:rPr lang="hr-HR" sz="1200" dirty="0" err="1"/>
              <a:t>Thread</a:t>
            </a:r>
            <a:r>
              <a:rPr lang="hr-HR" sz="1200" dirty="0"/>
              <a:t>) koji se koristi prilikom CUDA (GPU) obrade filtra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01261" y="4965177"/>
            <a:ext cx="5015185" cy="28155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316446" y="5105954"/>
            <a:ext cx="20744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33034" y="4824998"/>
            <a:ext cx="26051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Dobiveni podaci obrade se s memorije GPU-a vraćaju natrag memoriji CPU (</a:t>
            </a:r>
            <a:r>
              <a:rPr lang="hr-HR" sz="1200" dirty="0" err="1"/>
              <a:t>device</a:t>
            </a:r>
            <a:r>
              <a:rPr lang="hr-HR" sz="1200" dirty="0"/>
              <a:t> -&gt; </a:t>
            </a:r>
            <a:r>
              <a:rPr lang="hr-HR" sz="1200" dirty="0" err="1"/>
              <a:t>host</a:t>
            </a:r>
            <a:r>
              <a:rPr lang="hr-HR" sz="1200" dirty="0"/>
              <a:t>) u nizove </a:t>
            </a:r>
            <a:r>
              <a:rPr lang="hr-HR" sz="1200" dirty="0" err="1"/>
              <a:t>Slike.data</a:t>
            </a:r>
            <a:r>
              <a:rPr lang="hr-HR" sz="1200" dirty="0"/>
              <a:t>, manipulira se s podacima ulazne/izlazne slike.</a:t>
            </a:r>
          </a:p>
          <a:p>
            <a:r>
              <a:rPr lang="hr-HR" sz="1200" dirty="0"/>
              <a:t>Format: odredište(CPU), izvor(GPU), veličina niza podataka, </a:t>
            </a:r>
            <a:r>
              <a:rPr lang="hr-HR" sz="1200" dirty="0" err="1"/>
              <a:t>modGPU</a:t>
            </a:r>
            <a:r>
              <a:rPr lang="hr-HR" sz="1200" dirty="0"/>
              <a:t>-&gt;CPU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56217" y="5291032"/>
            <a:ext cx="1027981" cy="28156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284198" y="5431813"/>
            <a:ext cx="30192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530049" y="5205129"/>
            <a:ext cx="2605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Oslobađanje alocirane (</a:t>
            </a:r>
            <a:r>
              <a:rPr lang="hr-HR" sz="1200" dirty="0" err="1"/>
              <a:t>dealociranje</a:t>
            </a:r>
            <a:r>
              <a:rPr lang="hr-HR" sz="1200" dirty="0"/>
              <a:t>) memorije na GPU (</a:t>
            </a:r>
            <a:r>
              <a:rPr lang="hr-HR" sz="1200" dirty="0" err="1"/>
              <a:t>device</a:t>
            </a:r>
            <a:r>
              <a:rPr lang="hr-HR" sz="1200" dirty="0"/>
              <a:t>), analogno free() u C jeziku (CPU)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423" y="1535502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sz="1200" dirty="0" err="1"/>
              <a:t>memoryInitCUDA</a:t>
            </a:r>
            <a:r>
              <a:rPr lang="de-DE" sz="1200" dirty="0"/>
              <a:t> </a:t>
            </a:r>
            <a:r>
              <a:rPr lang="de-DE" sz="1200" dirty="0" err="1"/>
              <a:t>funkcija</a:t>
            </a:r>
            <a:r>
              <a:rPr lang="de-DE" sz="1200" dirty="0"/>
              <a:t>:</a:t>
            </a:r>
            <a:endParaRPr lang="hr-HR" sz="1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3" grpId="0"/>
      <p:bldP spid="15" grpId="0" animBg="1"/>
      <p:bldP spid="18" grpId="0"/>
      <p:bldP spid="19" grpId="0" animBg="1"/>
      <p:bldP spid="32" grpId="0"/>
      <p:bldP spid="34" grpId="0" animBg="1"/>
      <p:bldP spid="37" grpId="0"/>
      <p:bldP spid="38" grpId="0" animBg="1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4400" dirty="0"/>
              <a:t>Programski kod i rezultati 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35DD-CF17-47C0-8A3D-929936B587A9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9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2424" y="2142474"/>
            <a:ext cx="5964474" cy="3231980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52424" y="1552188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sz="1200" dirty="0" err="1"/>
              <a:t>medianFIlterCPU</a:t>
            </a:r>
            <a:r>
              <a:rPr lang="de-DE" sz="1200" dirty="0"/>
              <a:t> </a:t>
            </a:r>
            <a:r>
              <a:rPr lang="de-DE" sz="1200" dirty="0" err="1"/>
              <a:t>funkcija</a:t>
            </a:r>
            <a:r>
              <a:rPr lang="de-DE" sz="1200" dirty="0"/>
              <a:t>:</a:t>
            </a:r>
            <a:endParaRPr lang="hr-HR" sz="1200" dirty="0"/>
          </a:p>
        </p:txBody>
      </p:sp>
      <p:sp>
        <p:nvSpPr>
          <p:cNvPr id="9" name="Rectangle 8"/>
          <p:cNvSpPr/>
          <p:nvPr/>
        </p:nvSpPr>
        <p:spPr>
          <a:xfrm>
            <a:off x="1120115" y="2494815"/>
            <a:ext cx="4402111" cy="52143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0" name="Straight Arrow Connector 9"/>
          <p:cNvCxnSpPr>
            <a:endCxn id="11" idx="1"/>
          </p:cNvCxnSpPr>
          <p:nvPr/>
        </p:nvCxnSpPr>
        <p:spPr>
          <a:xfrm flipV="1">
            <a:off x="5522226" y="2142474"/>
            <a:ext cx="2201056" cy="44759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3282" y="1634642"/>
            <a:ext cx="26422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 err="1"/>
              <a:t>Indekseri</a:t>
            </a:r>
            <a:r>
              <a:rPr lang="hr-HR" sz="1200" dirty="0"/>
              <a:t> 2D koordinata za prolaz kroz svaki </a:t>
            </a:r>
            <a:r>
              <a:rPr lang="hr-HR" sz="1200" dirty="0" err="1"/>
              <a:t>pixel</a:t>
            </a:r>
            <a:r>
              <a:rPr lang="hr-HR" sz="1200" dirty="0"/>
              <a:t> slike. Provjerava se </a:t>
            </a:r>
            <a:r>
              <a:rPr lang="hr-HR" sz="1200" dirty="0" err="1"/>
              <a:t>if</a:t>
            </a:r>
            <a:r>
              <a:rPr lang="hr-HR" sz="1200" dirty="0"/>
              <a:t> uvjetom da li se trenutno </a:t>
            </a:r>
            <a:r>
              <a:rPr lang="hr-HR" sz="1200" dirty="0" err="1"/>
              <a:t>indekseri</a:t>
            </a:r>
            <a:r>
              <a:rPr lang="hr-HR" sz="1200" dirty="0"/>
              <a:t> nalaze na rubovima, ukoliko jest obavlja se ZERO PADDING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7315" y="3040047"/>
            <a:ext cx="5118760" cy="62707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6669776" y="2903350"/>
            <a:ext cx="551190" cy="3773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0966" y="2742801"/>
            <a:ext cx="4132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Vektor (</a:t>
            </a:r>
            <a:r>
              <a:rPr lang="hr-HR" sz="1200" dirty="0" err="1"/>
              <a:t>linearizirani</a:t>
            </a:r>
            <a:r>
              <a:rPr lang="hr-HR" sz="1200" dirty="0"/>
              <a:t> prozor) puni se intenzitetima pojedinih </a:t>
            </a:r>
            <a:r>
              <a:rPr lang="hr-HR" sz="1200" dirty="0" err="1"/>
              <a:t>pixela</a:t>
            </a:r>
            <a:r>
              <a:rPr lang="hr-HR" sz="1200" dirty="0"/>
              <a:t> sa slika, obavlja se dohvat podataka za daljnju obradu nad njima operacijom medijana, pomicanje u desno za jedan stupac, nakon prolaska cijelim retkom (</a:t>
            </a:r>
            <a:r>
              <a:rPr lang="hr-HR" sz="1200" dirty="0" err="1"/>
              <a:t>width</a:t>
            </a:r>
            <a:r>
              <a:rPr lang="hr-HR" sz="1200" dirty="0"/>
              <a:t> slike), prelazi u novi redak slike za jedan red prema dolje, počevši opet od početka novog retka, i ponavlja 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66874" y="3700523"/>
            <a:ext cx="2438401" cy="106576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4093739" y="4117109"/>
            <a:ext cx="459211" cy="13949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52950" y="3956407"/>
            <a:ext cx="2642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BUBBLE SORT, složenost O(n</a:t>
            </a:r>
            <a:r>
              <a:rPr lang="de-DE" sz="1200" dirty="0"/>
              <a:t>^2)!!!</a:t>
            </a:r>
            <a:endParaRPr lang="hr-HR" sz="1200" dirty="0"/>
          </a:p>
        </p:txBody>
      </p:sp>
      <p:sp>
        <p:nvSpPr>
          <p:cNvPr id="24" name="Rectangle 23"/>
          <p:cNvSpPr/>
          <p:nvPr/>
        </p:nvSpPr>
        <p:spPr>
          <a:xfrm>
            <a:off x="1756004" y="4799687"/>
            <a:ext cx="3577996" cy="1394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cxnSp>
        <p:nvCxnSpPr>
          <p:cNvPr id="25" name="Straight Arrow Connector 24"/>
          <p:cNvCxnSpPr>
            <a:endCxn id="28" idx="1"/>
          </p:cNvCxnSpPr>
          <p:nvPr/>
        </p:nvCxnSpPr>
        <p:spPr>
          <a:xfrm>
            <a:off x="5331481" y="4863537"/>
            <a:ext cx="1857375" cy="1428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88856" y="4775558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Sredi</a:t>
            </a:r>
            <a:r>
              <a:rPr lang="hr-HR" sz="1200" dirty="0" err="1"/>
              <a:t>šnji</a:t>
            </a:r>
            <a:r>
              <a:rPr lang="hr-HR" sz="1200" dirty="0"/>
              <a:t> </a:t>
            </a:r>
            <a:r>
              <a:rPr lang="hr-HR" sz="1200" dirty="0" err="1"/>
              <a:t>pixel</a:t>
            </a:r>
            <a:r>
              <a:rPr lang="hr-HR" sz="1200" dirty="0"/>
              <a:t> filtra (pr. za 3x3 je filter</a:t>
            </a:r>
            <a:r>
              <a:rPr lang="de-DE" sz="1200" dirty="0"/>
              <a:t>[4]), 5. </a:t>
            </a:r>
            <a:r>
              <a:rPr lang="de-DE" sz="1200" dirty="0" err="1"/>
              <a:t>element</a:t>
            </a:r>
            <a:r>
              <a:rPr lang="de-DE" sz="1200" dirty="0"/>
              <a:t> </a:t>
            </a:r>
            <a:r>
              <a:rPr lang="de-DE" sz="1200" dirty="0" err="1"/>
              <a:t>prebrisuje</a:t>
            </a:r>
            <a:r>
              <a:rPr lang="de-DE" sz="1200" dirty="0"/>
              <a:t> na </a:t>
            </a:r>
            <a:r>
              <a:rPr lang="de-DE" sz="1200" dirty="0" err="1"/>
              <a:t>odgovaraju</a:t>
            </a:r>
            <a:r>
              <a:rPr lang="hr-HR" sz="1200" dirty="0" err="1"/>
              <a:t>ćem</a:t>
            </a:r>
            <a:r>
              <a:rPr lang="hr-HR" sz="1200" dirty="0"/>
              <a:t>  mjestu </a:t>
            </a:r>
            <a:r>
              <a:rPr lang="hr-HR" sz="1200" dirty="0" err="1"/>
              <a:t>pixela</a:t>
            </a:r>
            <a:r>
              <a:rPr lang="hr-HR" sz="1200" dirty="0"/>
              <a:t> slike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5" grpId="0" animBg="1"/>
      <p:bldP spid="18" grpId="0"/>
      <p:bldP spid="20" grpId="0" animBg="1"/>
      <p:bldP spid="23" grpId="0"/>
      <p:bldP spid="24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4400" dirty="0"/>
              <a:t>Programski kod i rezultati 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B597-8E70-4766-94B2-463594BC0CD2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10</a:t>
            </a:fld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1052424" y="1690688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sz="1200" dirty="0" err="1"/>
              <a:t>medianFIlterCUDA</a:t>
            </a:r>
            <a:r>
              <a:rPr lang="de-DE" sz="1200" dirty="0"/>
              <a:t> </a:t>
            </a:r>
            <a:r>
              <a:rPr lang="de-DE" sz="1200" dirty="0" err="1"/>
              <a:t>funkcija</a:t>
            </a:r>
            <a:r>
              <a:rPr lang="de-DE" sz="1200" dirty="0"/>
              <a:t>:</a:t>
            </a:r>
            <a:endParaRPr lang="hr-HR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6362" y="2182001"/>
            <a:ext cx="8007839" cy="3542524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1225062" y="2458280"/>
            <a:ext cx="4340413" cy="31349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0" name="Straight Arrow Connector 9"/>
          <p:cNvCxnSpPr>
            <a:endCxn id="11" idx="1"/>
          </p:cNvCxnSpPr>
          <p:nvPr/>
        </p:nvCxnSpPr>
        <p:spPr>
          <a:xfrm flipV="1">
            <a:off x="5562954" y="2504446"/>
            <a:ext cx="3786822" cy="665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49776" y="1442617"/>
            <a:ext cx="260517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Definiraju se uređeni par indekasa (</a:t>
            </a:r>
            <a:r>
              <a:rPr lang="hr-HR" sz="1200" dirty="0" err="1"/>
              <a:t>col,row</a:t>
            </a:r>
            <a:r>
              <a:rPr lang="hr-HR" sz="1200" dirty="0"/>
              <a:t>) koji ujedno služe kao indeksi za pristup pojedinim </a:t>
            </a:r>
            <a:r>
              <a:rPr lang="hr-HR" sz="1200" dirty="0" err="1"/>
              <a:t>threadovima</a:t>
            </a:r>
            <a:r>
              <a:rPr lang="hr-HR" sz="1200" dirty="0"/>
              <a:t> unutar </a:t>
            </a:r>
            <a:r>
              <a:rPr lang="hr-HR" sz="1200" dirty="0" err="1"/>
              <a:t>block</a:t>
            </a:r>
            <a:r>
              <a:rPr lang="hr-HR" sz="1200" dirty="0"/>
              <a:t>-a. Primjer: Ukoliko se radi o </a:t>
            </a:r>
            <a:r>
              <a:rPr lang="hr-HR" sz="1200" dirty="0" err="1"/>
              <a:t>blocku</a:t>
            </a:r>
            <a:r>
              <a:rPr lang="hr-HR" sz="1200" dirty="0"/>
              <a:t> veličine 4 </a:t>
            </a:r>
            <a:r>
              <a:rPr lang="hr-HR" sz="1200" dirty="0" err="1"/>
              <a:t>byte</a:t>
            </a:r>
            <a:r>
              <a:rPr lang="hr-HR" sz="1200" dirty="0"/>
              <a:t> = 32 bita (</a:t>
            </a:r>
            <a:r>
              <a:rPr lang="hr-HR" sz="1200" dirty="0" err="1"/>
              <a:t>BlockDim.x</a:t>
            </a:r>
            <a:r>
              <a:rPr lang="hr-HR" sz="1200" dirty="0"/>
              <a:t>), onda se pozicija pojedinog </a:t>
            </a:r>
            <a:r>
              <a:rPr lang="hr-HR" sz="1200" dirty="0" err="1"/>
              <a:t>threada</a:t>
            </a:r>
            <a:r>
              <a:rPr lang="hr-HR" sz="1200" dirty="0"/>
              <a:t> (68) (</a:t>
            </a:r>
            <a:r>
              <a:rPr lang="hr-HR" sz="1200" dirty="0" err="1"/>
              <a:t>row</a:t>
            </a:r>
            <a:r>
              <a:rPr lang="hr-HR" sz="1200" dirty="0"/>
              <a:t>) određuje na način: 2*32+4 =&gt; pri čemu je </a:t>
            </a:r>
            <a:r>
              <a:rPr lang="hr-HR" sz="1200" dirty="0" err="1"/>
              <a:t>blockIdx.x</a:t>
            </a:r>
            <a:r>
              <a:rPr lang="hr-HR" sz="1200" dirty="0"/>
              <a:t>=2 (uzima se i 0ti indeks) i pozicija tog </a:t>
            </a:r>
            <a:r>
              <a:rPr lang="hr-HR" sz="1200" dirty="0" err="1"/>
              <a:t>threada</a:t>
            </a:r>
            <a:r>
              <a:rPr lang="hr-HR" sz="1200" dirty="0"/>
              <a:t> unutar </a:t>
            </a:r>
            <a:r>
              <a:rPr lang="hr-HR" sz="1200" dirty="0" err="1"/>
              <a:t>blockIdx.x</a:t>
            </a:r>
            <a:r>
              <a:rPr lang="hr-HR" sz="1200" dirty="0"/>
              <a:t> bloka je </a:t>
            </a:r>
            <a:r>
              <a:rPr lang="hr-HR" sz="1200" dirty="0" err="1"/>
              <a:t>threadIdx.x</a:t>
            </a:r>
            <a:r>
              <a:rPr lang="hr-HR" sz="1200" dirty="0"/>
              <a:t>=4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2541" y="2886504"/>
            <a:ext cx="5092534" cy="31349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5" name="Straight Arrow Connector 14"/>
          <p:cNvCxnSpPr>
            <a:endCxn id="17" idx="1"/>
          </p:cNvCxnSpPr>
          <p:nvPr/>
        </p:nvCxnSpPr>
        <p:spPr>
          <a:xfrm>
            <a:off x="6315075" y="3109765"/>
            <a:ext cx="3034700" cy="13152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49775" y="3732518"/>
            <a:ext cx="26051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Korištenjem indekasa (col i </a:t>
            </a:r>
            <a:r>
              <a:rPr lang="hr-HR" sz="1200" dirty="0" err="1"/>
              <a:t>row</a:t>
            </a:r>
            <a:r>
              <a:rPr lang="hr-HR" sz="1200" dirty="0"/>
              <a:t>) određuje se trenutna pozicija u postupku obrade na ulaznoj slici, prema uvjetima, ukoliko se ti indeksi nalaze na rubovima slike, ti dijelovi ulazne slike se nadopunjuju nulama (ZERO-PADDING)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2332" y="3275459"/>
            <a:ext cx="6146717" cy="6290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387405" y="3904440"/>
            <a:ext cx="365570" cy="1657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52975" y="3987318"/>
            <a:ext cx="4133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U </a:t>
            </a:r>
            <a:r>
              <a:rPr lang="hr-HR" sz="1200" dirty="0" err="1"/>
              <a:t>linearizirani</a:t>
            </a:r>
            <a:r>
              <a:rPr lang="hr-HR" sz="1200" dirty="0"/>
              <a:t> prozor filtera pohranjuju se vrijednosti </a:t>
            </a:r>
            <a:r>
              <a:rPr lang="hr-HR" sz="1200" dirty="0" err="1"/>
              <a:t>pixela</a:t>
            </a:r>
            <a:r>
              <a:rPr lang="hr-HR" sz="1200" dirty="0"/>
              <a:t> slike, kojim će se izračunati medijan tog niza vrijednosti </a:t>
            </a:r>
            <a:r>
              <a:rPr lang="hr-HR" sz="1200" dirty="0" err="1"/>
              <a:t>pixela</a:t>
            </a:r>
            <a:r>
              <a:rPr lang="hr-HR" sz="1200" dirty="0"/>
              <a:t> slike kako bi se uzeo u obzir ne samo jedan </a:t>
            </a:r>
            <a:r>
              <a:rPr lang="hr-HR" sz="1200" dirty="0" err="1"/>
              <a:t>pixel</a:t>
            </a:r>
            <a:r>
              <a:rPr lang="hr-HR" sz="1200" dirty="0"/>
              <a:t>, nego i utjecaj njegovih susjednih </a:t>
            </a:r>
            <a:r>
              <a:rPr lang="hr-HR" sz="1200" dirty="0" err="1"/>
              <a:t>pixela</a:t>
            </a:r>
            <a:r>
              <a:rPr lang="hr-HR" sz="1200" dirty="0"/>
              <a:t> slike, time se ostvaruje uklanjanje SALT-PEPPER šuma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4041" y="3979961"/>
            <a:ext cx="3073359" cy="126831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467400" y="5074275"/>
            <a:ext cx="285574" cy="115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41662" y="4918341"/>
            <a:ext cx="413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BUBBLE SORT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2332" y="5212936"/>
            <a:ext cx="4603668" cy="16575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cxnSp>
        <p:nvCxnSpPr>
          <p:cNvPr id="30" name="Straight Arrow Connector 29"/>
          <p:cNvCxnSpPr>
            <a:stCxn id="29" idx="3"/>
            <a:endCxn id="31" idx="1"/>
          </p:cNvCxnSpPr>
          <p:nvPr/>
        </p:nvCxnSpPr>
        <p:spPr>
          <a:xfrm>
            <a:off x="6096000" y="5295814"/>
            <a:ext cx="3181350" cy="3797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77350" y="5352433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Sredi</a:t>
            </a:r>
            <a:r>
              <a:rPr lang="hr-HR" sz="1200" dirty="0" err="1"/>
              <a:t>šnji</a:t>
            </a:r>
            <a:r>
              <a:rPr lang="hr-HR" sz="1200" dirty="0"/>
              <a:t> </a:t>
            </a:r>
            <a:r>
              <a:rPr lang="hr-HR" sz="1200" dirty="0" err="1"/>
              <a:t>pixel</a:t>
            </a:r>
            <a:r>
              <a:rPr lang="hr-HR" sz="1200" dirty="0"/>
              <a:t> filtra (pr. za 3x3 je filter</a:t>
            </a:r>
            <a:r>
              <a:rPr lang="de-DE" sz="1200" dirty="0"/>
              <a:t>[4]), 5. </a:t>
            </a:r>
            <a:r>
              <a:rPr lang="de-DE" sz="1200" dirty="0" err="1"/>
              <a:t>element</a:t>
            </a:r>
            <a:r>
              <a:rPr lang="de-DE" sz="1200" dirty="0"/>
              <a:t> </a:t>
            </a:r>
            <a:r>
              <a:rPr lang="de-DE" sz="1200" dirty="0" err="1"/>
              <a:t>prebrisuje</a:t>
            </a:r>
            <a:r>
              <a:rPr lang="de-DE" sz="1200" dirty="0"/>
              <a:t> na </a:t>
            </a:r>
            <a:r>
              <a:rPr lang="de-DE" sz="1200" dirty="0" err="1"/>
              <a:t>odgovaraju</a:t>
            </a:r>
            <a:r>
              <a:rPr lang="hr-HR" sz="1200" dirty="0" err="1"/>
              <a:t>ćem</a:t>
            </a:r>
            <a:r>
              <a:rPr lang="hr-HR" sz="1200" dirty="0"/>
              <a:t>  mjestu </a:t>
            </a:r>
            <a:r>
              <a:rPr lang="hr-HR" sz="1200" dirty="0" err="1"/>
              <a:t>pixela</a:t>
            </a:r>
            <a:r>
              <a:rPr lang="hr-HR" sz="1200" dirty="0"/>
              <a:t> slike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4" grpId="0" animBg="1"/>
      <p:bldP spid="17" grpId="0"/>
      <p:bldP spid="19" grpId="0" animBg="1"/>
      <p:bldP spid="23" grpId="0"/>
      <p:bldP spid="25" grpId="0" animBg="1"/>
      <p:bldP spid="28" grpId="0"/>
      <p:bldP spid="29" grpId="0" animBg="1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4400" dirty="0"/>
              <a:t>Programski kod i rezultati 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1FD93-34B9-4C76-81B2-9D9F1811C68F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11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1657" y="2030665"/>
            <a:ext cx="4531443" cy="3985708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52424" y="1690688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sz="1200" dirty="0" err="1"/>
              <a:t>medianFIlterCUDA</a:t>
            </a:r>
            <a:r>
              <a:rPr lang="de-DE" sz="1200" dirty="0"/>
              <a:t> </a:t>
            </a:r>
            <a:r>
              <a:rPr lang="de-DE" sz="1200" dirty="0" err="1"/>
              <a:t>funkcija</a:t>
            </a:r>
            <a:r>
              <a:rPr lang="de-DE" sz="1200" dirty="0"/>
              <a:t>:</a:t>
            </a:r>
            <a:endParaRPr lang="hr-HR" sz="1200" dirty="0"/>
          </a:p>
        </p:txBody>
      </p:sp>
      <p:sp>
        <p:nvSpPr>
          <p:cNvPr id="10" name="Rectangle 9"/>
          <p:cNvSpPr/>
          <p:nvPr/>
        </p:nvSpPr>
        <p:spPr>
          <a:xfrm>
            <a:off x="1279732" y="2401131"/>
            <a:ext cx="2569293" cy="15157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849025" y="1967687"/>
            <a:ext cx="2280312" cy="49907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9336" y="1522833"/>
            <a:ext cx="5548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Definiranje zajedničke memorije kojom pristupaju svi </a:t>
            </a:r>
            <a:r>
              <a:rPr lang="hr-HR" sz="1200" dirty="0" err="1"/>
              <a:t>threadovi</a:t>
            </a:r>
            <a:r>
              <a:rPr lang="hr-HR" sz="1200" dirty="0"/>
              <a:t> unutar istog bloka, veličine je veličine prozora pribrojen s 2 u horizontali i vertikali, kako bi se pohranio okvir oko prozora, kako bi se mogla omogućiti preciznija obrada i izbjegavanja obrade podataka van dosega planiranog dijela memorije na GPU, pohranjuju se vrijednosti </a:t>
            </a:r>
            <a:r>
              <a:rPr lang="hr-HR" sz="1200" dirty="0" err="1"/>
              <a:t>pixela</a:t>
            </a:r>
            <a:r>
              <a:rPr lang="hr-HR" sz="1200" dirty="0"/>
              <a:t> slike kojom će se koristiti </a:t>
            </a:r>
            <a:r>
              <a:rPr lang="hr-HR" sz="1200" dirty="0" err="1"/>
              <a:t>median</a:t>
            </a:r>
            <a:r>
              <a:rPr lang="hr-HR" sz="1200" dirty="0"/>
              <a:t> filter za filtriranje tog dijela slike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79731" y="2571119"/>
            <a:ext cx="2920794" cy="1648456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8" name="Straight Arrow Connector 17"/>
          <p:cNvCxnSpPr>
            <a:endCxn id="20" idx="1"/>
          </p:cNvCxnSpPr>
          <p:nvPr/>
        </p:nvCxnSpPr>
        <p:spPr>
          <a:xfrm flipV="1">
            <a:off x="4194979" y="2852723"/>
            <a:ext cx="1934357" cy="58417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9336" y="2714223"/>
            <a:ext cx="5548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Definiranje rubnih/graničnih uvjeta koji ću se koristiti za postupak ZERO PADDING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9731" y="4245911"/>
            <a:ext cx="3788493" cy="1648456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2" name="Straight Arrow Connector 21"/>
          <p:cNvCxnSpPr>
            <a:endCxn id="25" idx="1"/>
          </p:cNvCxnSpPr>
          <p:nvPr/>
        </p:nvCxnSpPr>
        <p:spPr>
          <a:xfrm flipV="1">
            <a:off x="5068224" y="3576957"/>
            <a:ext cx="1061112" cy="114967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9336" y="3161458"/>
            <a:ext cx="5548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Postupak postavljanja </a:t>
            </a:r>
            <a:r>
              <a:rPr lang="hr-HR" sz="1200" dirty="0" err="1"/>
              <a:t>pixela</a:t>
            </a:r>
            <a:r>
              <a:rPr lang="hr-HR" sz="1200" dirty="0"/>
              <a:t>. Unutar okvira (prozor) veličine </a:t>
            </a:r>
            <a:r>
              <a:rPr lang="hr-HR" sz="1200" dirty="0" err="1"/>
              <a:t>SIZExSIZE</a:t>
            </a:r>
            <a:r>
              <a:rPr lang="hr-HR" sz="1200" dirty="0"/>
              <a:t> imamo rezervirani prostor za upis </a:t>
            </a:r>
            <a:r>
              <a:rPr lang="hr-HR" sz="1200" dirty="0" err="1"/>
              <a:t>pixela</a:t>
            </a:r>
            <a:r>
              <a:rPr lang="hr-HR" sz="1200" dirty="0"/>
              <a:t> sa slike. Ukoliko dolazimo do rubnih dijelova obuhvaćene površine ulazne slike, obavlja se prvo provjera rubnih uvjeta i unos </a:t>
            </a:r>
            <a:r>
              <a:rPr lang="hr-HR" sz="1200" dirty="0" err="1"/>
              <a:t>pixela</a:t>
            </a:r>
            <a:r>
              <a:rPr lang="hr-HR" sz="1200" dirty="0"/>
              <a:t> sa slike, slična logika kao i za ZERO PADDING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79732" y="5864590"/>
            <a:ext cx="2569293" cy="1515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3849025" y="5431146"/>
            <a:ext cx="2280312" cy="499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6000" y="5292646"/>
            <a:ext cx="5548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Sinkronizacija </a:t>
            </a:r>
            <a:r>
              <a:rPr lang="hr-HR" sz="1200" dirty="0" err="1"/>
              <a:t>threadova</a:t>
            </a:r>
            <a:r>
              <a:rPr lang="hr-HR" sz="1200" dirty="0"/>
              <a:t>, čeka se da svi </a:t>
            </a:r>
            <a:r>
              <a:rPr lang="hr-HR" sz="1200" dirty="0" err="1"/>
              <a:t>threadovi</a:t>
            </a:r>
            <a:r>
              <a:rPr lang="hr-HR" sz="1200" dirty="0"/>
              <a:t> završe i da se izjednače po stanjima, svi </a:t>
            </a:r>
            <a:r>
              <a:rPr lang="hr-HR" sz="1200" dirty="0" err="1"/>
              <a:t>threadovi</a:t>
            </a:r>
            <a:r>
              <a:rPr lang="hr-HR" sz="1200" dirty="0"/>
              <a:t> moraju dostići definiranu barijeru, time se omogućuje zaštita od nekonzistentnosti podataka prilikom paralelne obrade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/>
      <p:bldP spid="17" grpId="0" animBg="1"/>
      <p:bldP spid="20" grpId="0"/>
      <p:bldP spid="21" grpId="0" animBg="1"/>
      <p:bldP spid="25" grpId="0"/>
      <p:bldP spid="27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sz="4400" dirty="0"/>
              <a:t>Programski kod i rezultati 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1262-3555-48CD-B5F0-4BFAC390B8EA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12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7463" b="15015"/>
          <a:stretch>
            <a:fillRect/>
          </a:stretch>
        </p:blipFill>
        <p:spPr>
          <a:xfrm>
            <a:off x="885825" y="2320593"/>
            <a:ext cx="6419850" cy="351457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38200" y="1934874"/>
            <a:ext cx="22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sz="1200" dirty="0" err="1"/>
              <a:t>medianFIlterCUDA</a:t>
            </a:r>
            <a:r>
              <a:rPr lang="de-DE" sz="1200" dirty="0"/>
              <a:t> </a:t>
            </a:r>
            <a:r>
              <a:rPr lang="de-DE" sz="1200" dirty="0" err="1"/>
              <a:t>funkcija</a:t>
            </a:r>
            <a:r>
              <a:rPr lang="de-DE" sz="1200" dirty="0"/>
              <a:t>:</a:t>
            </a:r>
            <a:endParaRPr lang="hr-HR" sz="1200" dirty="0"/>
          </a:p>
        </p:txBody>
      </p:sp>
      <p:sp>
        <p:nvSpPr>
          <p:cNvPr id="9" name="Rectangle 8"/>
          <p:cNvSpPr/>
          <p:nvPr/>
        </p:nvSpPr>
        <p:spPr>
          <a:xfrm>
            <a:off x="1028701" y="2479376"/>
            <a:ext cx="4895849" cy="385719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924550" y="2345266"/>
            <a:ext cx="1847850" cy="32696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81937" y="2073373"/>
            <a:ext cx="3471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Ukoliko se radi o filteru dimenzija 3x3, </a:t>
            </a:r>
            <a:r>
              <a:rPr lang="hr-HR" sz="1200" dirty="0" err="1"/>
              <a:t>linearizacijom</a:t>
            </a:r>
            <a:r>
              <a:rPr lang="hr-HR" sz="1200" dirty="0"/>
              <a:t> 2D filtra dobiva se niz veličine 9, puni se s elementima iz </a:t>
            </a:r>
            <a:r>
              <a:rPr lang="hr-HR" sz="1200" dirty="0" err="1"/>
              <a:t>shared</a:t>
            </a:r>
            <a:r>
              <a:rPr lang="hr-HR" sz="1200" dirty="0"/>
              <a:t> memorije u koju su se učitali </a:t>
            </a:r>
            <a:r>
              <a:rPr lang="hr-HR" sz="1200" dirty="0" err="1"/>
              <a:t>pixeli</a:t>
            </a:r>
            <a:r>
              <a:rPr lang="hr-HR" sz="1200" dirty="0"/>
              <a:t> ulazne slike. Spremno za obavljanje </a:t>
            </a:r>
            <a:r>
              <a:rPr lang="hr-HR" sz="1200" dirty="0" err="1"/>
              <a:t>median</a:t>
            </a:r>
            <a:r>
              <a:rPr lang="hr-HR" sz="1200" dirty="0"/>
              <a:t> operacije: </a:t>
            </a:r>
          </a:p>
          <a:p>
            <a:r>
              <a:rPr lang="hr-HR" sz="1200" dirty="0"/>
              <a:t>BUBBLE SORT + srednji element prozora filtra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833811" y="3102157"/>
            <a:ext cx="1120986" cy="32684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14328" y="2963656"/>
            <a:ext cx="347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BUBBLE SORT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476" y="2936022"/>
            <a:ext cx="2700336" cy="873978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2" name="Rectangle 21"/>
          <p:cNvSpPr/>
          <p:nvPr/>
        </p:nvSpPr>
        <p:spPr>
          <a:xfrm>
            <a:off x="1028701" y="3743326"/>
            <a:ext cx="3009900" cy="175394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3" name="Straight Arrow Connector 22"/>
          <p:cNvCxnSpPr>
            <a:endCxn id="25" idx="1"/>
          </p:cNvCxnSpPr>
          <p:nvPr/>
        </p:nvCxnSpPr>
        <p:spPr>
          <a:xfrm flipV="1">
            <a:off x="4038600" y="3704826"/>
            <a:ext cx="447675" cy="7416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86275" y="338166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Sredi</a:t>
            </a:r>
            <a:r>
              <a:rPr lang="hr-HR" sz="1200" dirty="0" err="1"/>
              <a:t>šnji</a:t>
            </a:r>
            <a:r>
              <a:rPr lang="hr-HR" sz="1200" dirty="0"/>
              <a:t> </a:t>
            </a:r>
            <a:r>
              <a:rPr lang="hr-HR" sz="1200" dirty="0" err="1"/>
              <a:t>pixel</a:t>
            </a:r>
            <a:r>
              <a:rPr lang="hr-HR" sz="1200" dirty="0"/>
              <a:t> filtra (pr. za 3x3 je filter</a:t>
            </a:r>
            <a:r>
              <a:rPr lang="de-DE" sz="1200" dirty="0"/>
              <a:t>[4]), 5. </a:t>
            </a:r>
            <a:r>
              <a:rPr lang="de-DE" sz="1200" dirty="0" err="1"/>
              <a:t>element</a:t>
            </a:r>
            <a:r>
              <a:rPr lang="de-DE" sz="1200" dirty="0"/>
              <a:t> </a:t>
            </a:r>
            <a:r>
              <a:rPr lang="de-DE" sz="1200" dirty="0" err="1"/>
              <a:t>prebrisuje</a:t>
            </a:r>
            <a:r>
              <a:rPr lang="de-DE" sz="1200" dirty="0"/>
              <a:t> na </a:t>
            </a:r>
            <a:r>
              <a:rPr lang="de-DE" sz="1200" dirty="0" err="1"/>
              <a:t>odgovaraju</a:t>
            </a:r>
            <a:r>
              <a:rPr lang="hr-HR" sz="1200" dirty="0" err="1"/>
              <a:t>ćem</a:t>
            </a:r>
            <a:r>
              <a:rPr lang="hr-HR" sz="1200" dirty="0"/>
              <a:t>  mjestu </a:t>
            </a:r>
            <a:r>
              <a:rPr lang="hr-HR" sz="1200" dirty="0" err="1"/>
              <a:t>pixela</a:t>
            </a:r>
            <a:r>
              <a:rPr lang="hr-HR" sz="1200" dirty="0"/>
              <a:t> slike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825" y="4089567"/>
            <a:ext cx="6334125" cy="1698363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219950" y="4619625"/>
            <a:ext cx="1047750" cy="31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67700" y="435336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Analogno su implementirani i filtri ostalih dimenzija 4x4, 5x5, 7x7 i 9x9…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7" grpId="0"/>
      <p:bldP spid="18" grpId="0" animBg="1"/>
      <p:bldP spid="22" grpId="0" animBg="1"/>
      <p:bldP spid="25" grpId="0"/>
      <p:bldP spid="26" grpId="0" animBg="1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4400" dirty="0" err="1"/>
              <a:t>Rezultati</a:t>
            </a:r>
            <a:r>
              <a:rPr lang="de-DE" sz="4400" dirty="0"/>
              <a:t> </a:t>
            </a:r>
            <a:r>
              <a:rPr lang="hr-HR" sz="4400" dirty="0"/>
              <a:t>obrade filtrom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1012E-BECD-47B9-87E9-3E9D40CA51B3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13</a:t>
            </a:fld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838200" y="1619529"/>
            <a:ext cx="446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dirty="0"/>
              <a:t>REZULTATI OBRADE MEDIAN FILTROM</a:t>
            </a:r>
            <a:r>
              <a:rPr lang="de-DE" dirty="0"/>
              <a:t>:</a:t>
            </a:r>
            <a:endParaRPr lang="hr-H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2168526"/>
            <a:ext cx="4623601" cy="30845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26" y="2168526"/>
            <a:ext cx="4623601" cy="3084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6375" y="536257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FESB1.jpg, 487x730, jedno-kanalni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7326" y="5363131"/>
            <a:ext cx="4623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/>
              <a:t>Filtered_Image</a:t>
            </a:r>
            <a:r>
              <a:rPr lang="hr-HR" dirty="0"/>
              <a:t>(CPU/GPU/GPU Shared).jpg</a:t>
            </a:r>
          </a:p>
          <a:p>
            <a:pPr algn="ctr"/>
            <a:r>
              <a:rPr lang="hr-HR" dirty="0" err="1">
                <a:solidFill>
                  <a:schemeClr val="accent6"/>
                </a:solidFill>
              </a:rPr>
              <a:t>Median</a:t>
            </a:r>
            <a:r>
              <a:rPr lang="hr-HR" dirty="0">
                <a:solidFill>
                  <a:schemeClr val="accent6"/>
                </a:solidFill>
              </a:rPr>
              <a:t> filter, 3x3</a:t>
            </a:r>
            <a:r>
              <a:rPr lang="hr-HR" dirty="0"/>
              <a:t>, BLOCK SIZE=4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0050" y="2876550"/>
            <a:ext cx="219075" cy="219075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4429125" y="2058989"/>
            <a:ext cx="714375" cy="912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69" t="21435" r="26043" b="68066"/>
          <a:stretch>
            <a:fillRect/>
          </a:stretch>
        </p:blipFill>
        <p:spPr>
          <a:xfrm>
            <a:off x="5143500" y="1490420"/>
            <a:ext cx="919949" cy="109431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802011" y="2873137"/>
            <a:ext cx="219075" cy="219075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7431488" y="2314695"/>
            <a:ext cx="2370523" cy="676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7" t="22863" r="24807" b="69171"/>
          <a:stretch>
            <a:fillRect/>
          </a:stretch>
        </p:blipFill>
        <p:spPr>
          <a:xfrm>
            <a:off x="6513713" y="1490420"/>
            <a:ext cx="925126" cy="10943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80420-34CA-417F-809C-CB63A2EE4F17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14</a:t>
            </a:fld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351338"/>
            <a:ext cx="4185148" cy="27920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023" y="351339"/>
            <a:ext cx="4185148" cy="27920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3143348"/>
            <a:ext cx="4185148" cy="279201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023" y="3143348"/>
            <a:ext cx="4185148" cy="279201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H="1" flipV="1">
            <a:off x="1514475" y="1943100"/>
            <a:ext cx="897529" cy="10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3900" y="1747343"/>
            <a:ext cx="790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solidFill>
                  <a:schemeClr val="accent6"/>
                </a:solidFill>
              </a:rPr>
              <a:t>3x3</a:t>
            </a:r>
            <a:endParaRPr lang="hr-HR" dirty="0">
              <a:solidFill>
                <a:schemeClr val="accent6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0144125" y="1562677"/>
            <a:ext cx="760911" cy="363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885986" y="1378011"/>
            <a:ext cx="790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solidFill>
                  <a:schemeClr val="accent6"/>
                </a:solidFill>
              </a:rPr>
              <a:t>5x5</a:t>
            </a:r>
            <a:endParaRPr lang="hr-HR" dirty="0">
              <a:solidFill>
                <a:schemeClr val="accent6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1514476" y="4149725"/>
            <a:ext cx="1057274" cy="41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3900" y="4365778"/>
            <a:ext cx="790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solidFill>
                  <a:schemeClr val="accent6"/>
                </a:solidFill>
              </a:rPr>
              <a:t>7x7</a:t>
            </a:r>
            <a:endParaRPr lang="hr-HR" dirty="0">
              <a:solidFill>
                <a:schemeClr val="accent6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0039350" y="4365778"/>
            <a:ext cx="837111" cy="36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857411" y="4549849"/>
            <a:ext cx="790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solidFill>
                  <a:schemeClr val="accent6"/>
                </a:solidFill>
              </a:rPr>
              <a:t>9x9</a:t>
            </a:r>
            <a:endParaRPr lang="hr-HR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Analiza</a:t>
            </a:r>
            <a:r>
              <a:rPr lang="de-DE" dirty="0"/>
              <a:t> GPU </a:t>
            </a:r>
            <a:r>
              <a:rPr lang="de-DE" dirty="0" err="1"/>
              <a:t>arhitekture</a:t>
            </a:r>
            <a:r>
              <a:rPr lang="hr-HR" dirty="0"/>
              <a:t> </a:t>
            </a:r>
            <a:r>
              <a:rPr lang="de-DE" dirty="0"/>
              <a:t>i </a:t>
            </a:r>
            <a:r>
              <a:rPr lang="de-DE" dirty="0" err="1"/>
              <a:t>performansi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B2C3-83AB-43BB-B918-F280A09A3A08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15</a:t>
            </a:fld>
            <a:endParaRPr lang="hr-HR"/>
          </a:p>
        </p:txBody>
      </p:sp>
      <p:sp>
        <p:nvSpPr>
          <p:cNvPr id="9" name="TextBox 8"/>
          <p:cNvSpPr txBox="1"/>
          <p:nvPr/>
        </p:nvSpPr>
        <p:spPr>
          <a:xfrm>
            <a:off x="838200" y="1506022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dirty="0"/>
              <a:t>NVIDIA </a:t>
            </a:r>
            <a:r>
              <a:rPr lang="hr-HR" dirty="0" err="1"/>
              <a:t>Geforce</a:t>
            </a:r>
            <a:r>
              <a:rPr lang="hr-HR" dirty="0"/>
              <a:t> GTX 850M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4" y="2073904"/>
            <a:ext cx="5636460" cy="362223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734" y="2721840"/>
            <a:ext cx="3273383" cy="20949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05D95-D6BB-4B3B-B9B7-853BB7BC7995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16</a:t>
            </a:fld>
            <a:endParaRPr lang="hr-HR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Analiza</a:t>
            </a:r>
            <a:r>
              <a:rPr lang="de-DE" dirty="0"/>
              <a:t> GPU </a:t>
            </a:r>
            <a:r>
              <a:rPr lang="de-DE" dirty="0" err="1"/>
              <a:t>arhitekture</a:t>
            </a:r>
            <a:r>
              <a:rPr lang="hr-HR" dirty="0"/>
              <a:t> </a:t>
            </a:r>
            <a:r>
              <a:rPr lang="de-DE" dirty="0"/>
              <a:t>i </a:t>
            </a:r>
            <a:r>
              <a:rPr lang="de-DE" dirty="0" err="1"/>
              <a:t>performansi</a:t>
            </a:r>
            <a:endParaRPr lang="hr-HR" dirty="0"/>
          </a:p>
        </p:txBody>
      </p:sp>
      <p:sp>
        <p:nvSpPr>
          <p:cNvPr id="8" name="TextBox 7"/>
          <p:cNvSpPr txBox="1"/>
          <p:nvPr/>
        </p:nvSpPr>
        <p:spPr>
          <a:xfrm>
            <a:off x="838199" y="1690688"/>
            <a:ext cx="551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de-DE" dirty="0"/>
              <a:t>ADRESIRANJE PIXELA SLIKA U CUDI (</a:t>
            </a:r>
            <a:r>
              <a:rPr lang="de-DE" dirty="0" err="1"/>
              <a:t>col,row</a:t>
            </a:r>
            <a:r>
              <a:rPr lang="de-DE" dirty="0"/>
              <a:t>)</a:t>
            </a:r>
            <a:endParaRPr lang="hr-HR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17740"/>
            <a:ext cx="5768646" cy="381155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24060" y="3741420"/>
            <a:ext cx="144780" cy="1447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4" name="Straight Arrow Connector 13"/>
          <p:cNvCxnSpPr>
            <a:stCxn id="12" idx="1"/>
            <a:endCxn id="15" idx="3"/>
          </p:cNvCxnSpPr>
          <p:nvPr/>
        </p:nvCxnSpPr>
        <p:spPr>
          <a:xfrm flipH="1" flipV="1">
            <a:off x="3916680" y="2325589"/>
            <a:ext cx="5707380" cy="14882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65860" y="2171700"/>
            <a:ext cx="2750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thread</a:t>
            </a:r>
            <a:r>
              <a:rPr lang="de-DE" sz="1400" dirty="0"/>
              <a:t>(2,1) &lt; block(3,1) &lt; </a:t>
            </a:r>
            <a:r>
              <a:rPr lang="de-DE" sz="1400" dirty="0" err="1"/>
              <a:t>grid</a:t>
            </a:r>
            <a:r>
              <a:rPr lang="de-DE" sz="1400" dirty="0"/>
              <a:t>(1)</a:t>
            </a:r>
            <a:endParaRPr lang="hr-HR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135380" y="2602588"/>
            <a:ext cx="4686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Dimenzije</a:t>
            </a:r>
            <a:r>
              <a:rPr lang="de-DE" sz="1400" dirty="0"/>
              <a:t>: 1 </a:t>
            </a:r>
            <a:r>
              <a:rPr lang="de-DE" sz="1400" dirty="0" err="1"/>
              <a:t>grid</a:t>
            </a:r>
            <a:r>
              <a:rPr lang="de-DE" sz="1400" dirty="0"/>
              <a:t> -&gt; 4x3 </a:t>
            </a:r>
            <a:r>
              <a:rPr lang="de-DE" sz="1400" dirty="0" err="1"/>
              <a:t>bloka</a:t>
            </a:r>
            <a:r>
              <a:rPr lang="de-DE" sz="1400" dirty="0"/>
              <a:t> -&gt; 4x4 </a:t>
            </a:r>
            <a:r>
              <a:rPr lang="de-DE" sz="1400" dirty="0" err="1"/>
              <a:t>threada</a:t>
            </a:r>
            <a:endParaRPr lang="de-DE" sz="1400" dirty="0"/>
          </a:p>
          <a:p>
            <a:pPr marL="285750" indent="-285750">
              <a:buFont typeface="Arial" pitchFamily="34" charset="0"/>
              <a:buChar char="•"/>
            </a:pPr>
            <a:endParaRPr lang="hr-HR" dirty="0"/>
          </a:p>
        </p:txBody>
      </p:sp>
      <p:sp>
        <p:nvSpPr>
          <p:cNvPr id="17" name="TextBox 16"/>
          <p:cNvSpPr txBox="1"/>
          <p:nvPr/>
        </p:nvSpPr>
        <p:spPr>
          <a:xfrm>
            <a:off x="1135380" y="2941142"/>
            <a:ext cx="47167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threadIdx</a:t>
            </a:r>
            <a:r>
              <a:rPr lang="de-DE" sz="1400" dirty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col</a:t>
            </a:r>
            <a:r>
              <a:rPr lang="de-DE" sz="1400" dirty="0"/>
              <a:t> = </a:t>
            </a:r>
            <a:r>
              <a:rPr lang="de-DE" sz="1400" dirty="0" err="1"/>
              <a:t>blockIdx.x</a:t>
            </a:r>
            <a:r>
              <a:rPr lang="de-DE" sz="1400" dirty="0"/>
              <a:t> * </a:t>
            </a:r>
            <a:r>
              <a:rPr lang="de-DE" sz="1400" dirty="0" err="1"/>
              <a:t>blockDim.x</a:t>
            </a:r>
            <a:r>
              <a:rPr lang="de-DE" sz="1400" dirty="0"/>
              <a:t> + </a:t>
            </a:r>
            <a:r>
              <a:rPr lang="de-DE" sz="1400" dirty="0" err="1"/>
              <a:t>threadIdx.x</a:t>
            </a:r>
            <a:endParaRPr lang="de-DE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row</a:t>
            </a:r>
            <a:r>
              <a:rPr lang="de-DE" sz="1400" dirty="0"/>
              <a:t> = </a:t>
            </a:r>
            <a:r>
              <a:rPr lang="de-DE" sz="1400" dirty="0" err="1"/>
              <a:t>blockIdx.y</a:t>
            </a:r>
            <a:r>
              <a:rPr lang="de-DE" sz="1400" dirty="0"/>
              <a:t> * </a:t>
            </a:r>
            <a:r>
              <a:rPr lang="de-DE" sz="1400" dirty="0" err="1"/>
              <a:t>blockDim.y</a:t>
            </a:r>
            <a:r>
              <a:rPr lang="de-DE" sz="1400" dirty="0"/>
              <a:t> + </a:t>
            </a:r>
            <a:r>
              <a:rPr lang="de-DE" sz="1400" dirty="0" err="1"/>
              <a:t>threadIdx.y</a:t>
            </a:r>
            <a:endParaRPr lang="hr-HR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135380" y="3802916"/>
            <a:ext cx="47167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PARAMETRIZACIJA: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blockIdx.x</a:t>
            </a:r>
            <a:r>
              <a:rPr lang="de-DE" sz="1400" dirty="0"/>
              <a:t> = 3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blockIdx.y</a:t>
            </a:r>
            <a:r>
              <a:rPr lang="de-DE" sz="1400" dirty="0"/>
              <a:t> = 1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threadIdx.x</a:t>
            </a:r>
            <a:r>
              <a:rPr lang="de-DE" sz="1400" dirty="0"/>
              <a:t> = 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threadIdx.y</a:t>
            </a:r>
            <a:r>
              <a:rPr lang="de-DE" sz="1400" dirty="0"/>
              <a:t> = 1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48640" y="2705100"/>
            <a:ext cx="510540" cy="1242060"/>
            <a:chOff x="548640" y="2842260"/>
            <a:chExt cx="510540" cy="1440180"/>
          </a:xfrm>
        </p:grpSpPr>
        <p:cxnSp>
          <p:nvCxnSpPr>
            <p:cNvPr id="20" name="Straight Connector 19"/>
            <p:cNvCxnSpPr/>
            <p:nvPr/>
          </p:nvCxnSpPr>
          <p:spPr>
            <a:xfrm flipH="1">
              <a:off x="548640" y="2842260"/>
              <a:ext cx="44196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548640" y="2842261"/>
              <a:ext cx="0" cy="144017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48640" y="4282440"/>
              <a:ext cx="51054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165860" y="4995764"/>
            <a:ext cx="46863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col</a:t>
            </a:r>
            <a:r>
              <a:rPr lang="de-DE" sz="1400" dirty="0"/>
              <a:t> = 3*4 + 2 = 12 + 2 = 14</a:t>
            </a:r>
          </a:p>
          <a:p>
            <a:r>
              <a:rPr lang="de-DE" sz="1400" dirty="0" err="1"/>
              <a:t>row</a:t>
            </a:r>
            <a:r>
              <a:rPr lang="de-DE" sz="1400" dirty="0"/>
              <a:t> =  1*4 + 1 = 4 + 1 = 5</a:t>
            </a:r>
          </a:p>
          <a:p>
            <a:endParaRPr lang="de-DE" sz="1400" dirty="0"/>
          </a:p>
          <a:p>
            <a:r>
              <a:rPr lang="de-DE" sz="1400" dirty="0" err="1"/>
              <a:t>pixel</a:t>
            </a:r>
            <a:r>
              <a:rPr lang="de-DE" sz="1400" dirty="0"/>
              <a:t> = 5*16+15 = 95</a:t>
            </a:r>
          </a:p>
          <a:p>
            <a:pPr marL="285750" indent="-285750">
              <a:buFont typeface="Arial" pitchFamily="34" charset="0"/>
              <a:buChar char="•"/>
            </a:pPr>
            <a:endParaRPr lang="hr-H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16" grpId="0"/>
      <p:bldP spid="17" grpId="0"/>
      <p:bldP spid="18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Analiza</a:t>
            </a:r>
            <a:r>
              <a:rPr lang="de-DE" dirty="0"/>
              <a:t> GPU </a:t>
            </a:r>
            <a:r>
              <a:rPr lang="de-DE" dirty="0" err="1"/>
              <a:t>arhitekture</a:t>
            </a:r>
            <a:r>
              <a:rPr lang="hr-HR" dirty="0"/>
              <a:t> </a:t>
            </a:r>
            <a:r>
              <a:rPr lang="de-DE" dirty="0"/>
              <a:t>i </a:t>
            </a:r>
            <a:r>
              <a:rPr lang="de-DE" dirty="0" err="1"/>
              <a:t>performansi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CFBB-CFC9-499E-BE11-087772560D6B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17</a:t>
            </a:fld>
            <a:endParaRPr lang="hr-H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7" t="4266" r="28699" b="14504"/>
          <a:stretch>
            <a:fillRect/>
          </a:stretch>
        </p:blipFill>
        <p:spPr>
          <a:xfrm>
            <a:off x="7258050" y="2327891"/>
            <a:ext cx="3596640" cy="3627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2617176"/>
            <a:ext cx="1819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>
                <a:solidFill>
                  <a:srgbClr val="808080"/>
                </a:solidFill>
                <a:latin typeface="Consolas" pitchFamily="49" charset="0"/>
              </a:rPr>
              <a:t>#define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hr-HR" sz="1400" dirty="0">
                <a:solidFill>
                  <a:srgbClr val="6F008A"/>
                </a:solidFill>
                <a:latin typeface="Consolas" pitchFamily="49" charset="0"/>
              </a:rPr>
              <a:t>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de-DE" sz="1400" dirty="0">
                <a:solidFill>
                  <a:srgbClr val="000000"/>
                </a:solidFill>
                <a:latin typeface="Consolas" pitchFamily="49" charset="0"/>
              </a:rPr>
              <a:t>4</a:t>
            </a:r>
            <a:endParaRPr lang="hr-HR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857250" y="326178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r-HR" sz="14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hr-HR" sz="1400" dirty="0">
                <a:solidFill>
                  <a:srgbClr val="2B91AF"/>
                </a:solidFill>
                <a:latin typeface="Consolas" pitchFamily="49" charset="0"/>
              </a:rPr>
              <a:t>dim3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dimGrid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((</a:t>
            </a:r>
            <a:r>
              <a:rPr lang="hr-HR" sz="14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ceil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((</a:t>
            </a:r>
            <a:r>
              <a:rPr lang="hr-HR" sz="1400" dirty="0" err="1">
                <a:solidFill>
                  <a:srgbClr val="0000FF"/>
                </a:solidFill>
                <a:latin typeface="Consolas" pitchFamily="49" charset="0"/>
              </a:rPr>
              <a:t>float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hr-HR" sz="1400" dirty="0" err="1">
                <a:solidFill>
                  <a:srgbClr val="808080"/>
                </a:solidFill>
                <a:latin typeface="Consolas" pitchFamily="49" charset="0"/>
              </a:rPr>
              <a:t>imageWidth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/ (</a:t>
            </a:r>
            <a:r>
              <a:rPr lang="hr-HR" sz="1400" dirty="0" err="1">
                <a:solidFill>
                  <a:srgbClr val="0000FF"/>
                </a:solidFill>
                <a:latin typeface="Consolas" pitchFamily="49" charset="0"/>
              </a:rPr>
              <a:t>float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hr-HR" sz="1400" dirty="0">
                <a:solidFill>
                  <a:srgbClr val="6F008A"/>
                </a:solidFill>
                <a:latin typeface="Consolas" pitchFamily="49" charset="0"/>
              </a:rPr>
              <a:t>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)ceil((</a:t>
            </a:r>
            <a:r>
              <a:rPr lang="en-US" sz="1400" dirty="0">
                <a:solidFill>
                  <a:srgbClr val="0000FF"/>
                </a:solidFill>
                <a:latin typeface="Consolas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en-US" sz="1400" dirty="0" err="1">
                <a:solidFill>
                  <a:srgbClr val="808080"/>
                </a:solidFill>
                <a:latin typeface="Consolas" pitchFamily="49" charset="0"/>
              </a:rPr>
              <a:t>imageHeight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 / (</a:t>
            </a:r>
            <a:r>
              <a:rPr lang="en-US" sz="1400" dirty="0">
                <a:solidFill>
                  <a:srgbClr val="0000FF"/>
                </a:solidFill>
                <a:latin typeface="Consolas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en-US" sz="1400" dirty="0">
                <a:solidFill>
                  <a:srgbClr val="6F008A"/>
                </a:solidFill>
                <a:latin typeface="Consolas" pitchFamily="49" charset="0"/>
              </a:rPr>
              <a:t>BLOCK</a:t>
            </a:r>
            <a:r>
              <a:rPr lang="en-US" sz="1400" dirty="0">
                <a:solidFill>
                  <a:srgbClr val="000000"/>
                </a:solidFill>
                <a:latin typeface="Consolas" pitchFamily="49" charset="0"/>
              </a:rPr>
              <a:t>));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</a:rPr>
              <a:t>//(16/4)*(16/4)*1 = 4*4*1=16</a:t>
            </a:r>
            <a:endParaRPr lang="de-DE" sz="1400" dirty="0">
              <a:solidFill>
                <a:schemeClr val="accent6">
                  <a:lumMod val="75000"/>
                </a:schemeClr>
              </a:solidFill>
              <a:latin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7250" y="4294742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medianFilterCUDA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&lt;&lt; &lt;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dimGrid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dimBlock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&gt;&gt; &gt; (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dev_in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dev_out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imageHeight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imageWidth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);</a:t>
            </a:r>
          </a:p>
          <a:p>
            <a:endParaRPr lang="de-DE" sz="14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medianFilterCUDAShared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&lt;&lt; &lt;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dimGrid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dimBlock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&gt;&gt; &gt; (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dev_in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dev_out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imageHeight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imageWidth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endParaRPr lang="hr-HR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838199" y="1690688"/>
            <a:ext cx="574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de-DE" dirty="0"/>
              <a:t>DEFINIRANJE DIMENZIJE GRID-</a:t>
            </a:r>
            <a:r>
              <a:rPr lang="de-DE" dirty="0" err="1"/>
              <a:t>ova</a:t>
            </a:r>
            <a:r>
              <a:rPr lang="de-DE" dirty="0"/>
              <a:t> i BLOCK-</a:t>
            </a:r>
            <a:r>
              <a:rPr lang="de-DE" dirty="0" err="1"/>
              <a:t>ova</a:t>
            </a:r>
            <a:r>
              <a:rPr lang="de-DE" dirty="0"/>
              <a:t> ZA POZIVANJE KERNEL-a</a:t>
            </a:r>
            <a:endParaRPr lang="hr-HR" dirty="0"/>
          </a:p>
        </p:txBody>
      </p:sp>
      <p:sp>
        <p:nvSpPr>
          <p:cNvPr id="23" name="Rectangle 22"/>
          <p:cNvSpPr/>
          <p:nvPr/>
        </p:nvSpPr>
        <p:spPr>
          <a:xfrm>
            <a:off x="7258050" y="2346941"/>
            <a:ext cx="895350" cy="8891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8" name="Rectangle 27"/>
          <p:cNvSpPr/>
          <p:nvPr/>
        </p:nvSpPr>
        <p:spPr>
          <a:xfrm>
            <a:off x="7258050" y="2327891"/>
            <a:ext cx="895350" cy="362712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9" name="Rectangle 28"/>
          <p:cNvSpPr/>
          <p:nvPr/>
        </p:nvSpPr>
        <p:spPr>
          <a:xfrm rot="5400000">
            <a:off x="8608695" y="1000592"/>
            <a:ext cx="895350" cy="359664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7258050" y="2181225"/>
            <a:ext cx="895350" cy="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115175" y="2396223"/>
            <a:ext cx="0" cy="790575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7258050" y="1847850"/>
            <a:ext cx="3596640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859904" y="2327891"/>
            <a:ext cx="0" cy="362712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267576" y="1908886"/>
            <a:ext cx="895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</a:rPr>
              <a:t>dimBlock.x</a:t>
            </a:r>
            <a:endParaRPr lang="hr-HR" sz="1200" dirty="0">
              <a:solidFill>
                <a:srgbClr val="7030A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 rot="16200000">
            <a:off x="6524630" y="2639518"/>
            <a:ext cx="895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</a:rPr>
              <a:t>dimBlock.y</a:t>
            </a:r>
            <a:endParaRPr lang="hr-HR" sz="1200" dirty="0">
              <a:solidFill>
                <a:srgbClr val="7030A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53400" y="1593791"/>
            <a:ext cx="20573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chemeClr val="accent4"/>
                </a:solidFill>
              </a:rPr>
              <a:t>imageWidth</a:t>
            </a:r>
            <a:r>
              <a:rPr lang="de-DE" sz="1200" dirty="0">
                <a:solidFill>
                  <a:schemeClr val="accent4"/>
                </a:solidFill>
              </a:rPr>
              <a:t> = </a:t>
            </a:r>
            <a:r>
              <a:rPr lang="de-DE" sz="1200" dirty="0" err="1">
                <a:solidFill>
                  <a:schemeClr val="accent4"/>
                </a:solidFill>
              </a:rPr>
              <a:t>dimGrid.x</a:t>
            </a:r>
            <a:r>
              <a:rPr lang="de-DE" sz="1200" dirty="0">
                <a:solidFill>
                  <a:schemeClr val="accent4"/>
                </a:solidFill>
              </a:rPr>
              <a:t> - 1</a:t>
            </a:r>
            <a:endParaRPr lang="hr-HR" sz="1200" dirty="0">
              <a:solidFill>
                <a:schemeClr val="accent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 rot="16200000">
            <a:off x="5709861" y="4028975"/>
            <a:ext cx="20573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chemeClr val="accent4"/>
                </a:solidFill>
              </a:rPr>
              <a:t>imageHeigth</a:t>
            </a:r>
            <a:r>
              <a:rPr lang="de-DE" sz="1200" dirty="0">
                <a:solidFill>
                  <a:schemeClr val="accent4"/>
                </a:solidFill>
              </a:rPr>
              <a:t> = </a:t>
            </a:r>
            <a:r>
              <a:rPr lang="de-DE" sz="1200" dirty="0" err="1">
                <a:solidFill>
                  <a:schemeClr val="accent4"/>
                </a:solidFill>
              </a:rPr>
              <a:t>dimGrid.y</a:t>
            </a:r>
            <a:r>
              <a:rPr lang="de-DE" sz="1200" dirty="0">
                <a:solidFill>
                  <a:schemeClr val="accent4"/>
                </a:solidFill>
              </a:rPr>
              <a:t> - 1</a:t>
            </a:r>
            <a:endParaRPr lang="hr-HR" sz="1200" dirty="0">
              <a:solidFill>
                <a:schemeClr val="accent4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57250" y="303290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400" dirty="0">
                <a:solidFill>
                  <a:srgbClr val="2B91AF"/>
                </a:solidFill>
                <a:latin typeface="Consolas" pitchFamily="49" charset="0"/>
              </a:rPr>
              <a:t>dim3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hr-HR" sz="1400" dirty="0" err="1">
                <a:solidFill>
                  <a:srgbClr val="000000"/>
                </a:solidFill>
                <a:latin typeface="Consolas" pitchFamily="49" charset="0"/>
              </a:rPr>
              <a:t>dimBlock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hr-HR" sz="1400" dirty="0">
                <a:solidFill>
                  <a:srgbClr val="6F008A"/>
                </a:solidFill>
                <a:latin typeface="Consolas" pitchFamily="49" charset="0"/>
              </a:rPr>
              <a:t>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hr-HR" sz="1400" dirty="0">
                <a:solidFill>
                  <a:srgbClr val="6F008A"/>
                </a:solidFill>
                <a:latin typeface="Consolas" pitchFamily="49" charset="0"/>
              </a:rPr>
              <a:t>BLOCK</a:t>
            </a:r>
            <a:r>
              <a:rPr lang="hr-HR" sz="14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r>
              <a:rPr lang="de-DE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</a:rPr>
              <a:t>//(4*4*1)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3" grpId="0" animBg="1"/>
      <p:bldP spid="28" grpId="0" animBg="1"/>
      <p:bldP spid="29" grpId="0" animBg="1"/>
      <p:bldP spid="41" grpId="0"/>
      <p:bldP spid="42" grpId="0"/>
      <p:bldP spid="43" grpId="0"/>
      <p:bldP spid="44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Analiza</a:t>
            </a:r>
            <a:r>
              <a:rPr lang="de-DE" dirty="0"/>
              <a:t> GPU </a:t>
            </a:r>
            <a:r>
              <a:rPr lang="de-DE" dirty="0" err="1"/>
              <a:t>arhitekture</a:t>
            </a:r>
            <a:r>
              <a:rPr lang="hr-HR" dirty="0"/>
              <a:t> </a:t>
            </a:r>
            <a:r>
              <a:rPr lang="de-DE" dirty="0"/>
              <a:t>i </a:t>
            </a:r>
            <a:r>
              <a:rPr lang="de-DE" dirty="0" err="1"/>
              <a:t>performansi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31223-4AA6-4E02-A93E-8B0F75B142B3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18</a:t>
            </a:fld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7" t="4266" r="28699" b="14504"/>
          <a:stretch>
            <a:fillRect/>
          </a:stretch>
        </p:blipFill>
        <p:spPr>
          <a:xfrm>
            <a:off x="7258050" y="2327891"/>
            <a:ext cx="3596640" cy="362712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7258050" y="2346941"/>
            <a:ext cx="895350" cy="889139"/>
            <a:chOff x="7258050" y="2346941"/>
            <a:chExt cx="895350" cy="889139"/>
          </a:xfrm>
        </p:grpSpPr>
        <p:sp>
          <p:nvSpPr>
            <p:cNvPr id="11" name="Rectangle 10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(0,0)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74355" y="2346941"/>
            <a:ext cx="895350" cy="889139"/>
            <a:chOff x="7258050" y="2346941"/>
            <a:chExt cx="895350" cy="889139"/>
          </a:xfrm>
        </p:grpSpPr>
        <p:sp>
          <p:nvSpPr>
            <p:cNvPr id="19" name="Rectangle 18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(1,0)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086850" y="2346941"/>
            <a:ext cx="895350" cy="889139"/>
            <a:chOff x="7258050" y="2346941"/>
            <a:chExt cx="895350" cy="889139"/>
          </a:xfrm>
        </p:grpSpPr>
        <p:sp>
          <p:nvSpPr>
            <p:cNvPr id="22" name="Rectangle 21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(2,0)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970770" y="2346941"/>
            <a:ext cx="895350" cy="889139"/>
            <a:chOff x="7258050" y="2346941"/>
            <a:chExt cx="895350" cy="889139"/>
          </a:xfrm>
        </p:grpSpPr>
        <p:sp>
          <p:nvSpPr>
            <p:cNvPr id="25" name="Rectangle 24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(3,0)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258050" y="3261837"/>
            <a:ext cx="895350" cy="889139"/>
            <a:chOff x="7258050" y="2346941"/>
            <a:chExt cx="895350" cy="889139"/>
          </a:xfrm>
        </p:grpSpPr>
        <p:sp>
          <p:nvSpPr>
            <p:cNvPr id="28" name="Rectangle 27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(0,1)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8174355" y="3261837"/>
            <a:ext cx="895350" cy="889139"/>
            <a:chOff x="7258050" y="2346941"/>
            <a:chExt cx="895350" cy="889139"/>
          </a:xfrm>
        </p:grpSpPr>
        <p:sp>
          <p:nvSpPr>
            <p:cNvPr id="31" name="Rectangle 30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(1,1)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086850" y="3261837"/>
            <a:ext cx="895350" cy="889139"/>
            <a:chOff x="7258050" y="2346941"/>
            <a:chExt cx="895350" cy="889139"/>
          </a:xfrm>
        </p:grpSpPr>
        <p:sp>
          <p:nvSpPr>
            <p:cNvPr id="34" name="Rectangle 33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(2,1)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970770" y="3261837"/>
            <a:ext cx="895350" cy="889139"/>
            <a:chOff x="7258050" y="2346941"/>
            <a:chExt cx="895350" cy="889139"/>
          </a:xfrm>
        </p:grpSpPr>
        <p:sp>
          <p:nvSpPr>
            <p:cNvPr id="37" name="Rectangle 36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(3,1)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258050" y="4176733"/>
            <a:ext cx="895350" cy="889139"/>
            <a:chOff x="7258050" y="2346941"/>
            <a:chExt cx="895350" cy="889139"/>
          </a:xfrm>
        </p:grpSpPr>
        <p:sp>
          <p:nvSpPr>
            <p:cNvPr id="40" name="Rectangle 39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(0,2)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174355" y="4176733"/>
            <a:ext cx="895350" cy="889139"/>
            <a:chOff x="7258050" y="2346941"/>
            <a:chExt cx="895350" cy="889139"/>
          </a:xfrm>
        </p:grpSpPr>
        <p:sp>
          <p:nvSpPr>
            <p:cNvPr id="43" name="Rectangle 42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(1,2)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9086850" y="4176733"/>
            <a:ext cx="895350" cy="889139"/>
            <a:chOff x="7258050" y="2346941"/>
            <a:chExt cx="895350" cy="889139"/>
          </a:xfrm>
        </p:grpSpPr>
        <p:sp>
          <p:nvSpPr>
            <p:cNvPr id="46" name="Rectangle 45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(2,2)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9970770" y="4176733"/>
            <a:ext cx="895350" cy="889139"/>
            <a:chOff x="7258050" y="2346941"/>
            <a:chExt cx="895350" cy="889139"/>
          </a:xfrm>
        </p:grpSpPr>
        <p:sp>
          <p:nvSpPr>
            <p:cNvPr id="49" name="Rectangle 48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(3,2)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7258050" y="5040649"/>
            <a:ext cx="895350" cy="889139"/>
            <a:chOff x="7258050" y="2346941"/>
            <a:chExt cx="895350" cy="889139"/>
          </a:xfrm>
        </p:grpSpPr>
        <p:sp>
          <p:nvSpPr>
            <p:cNvPr id="52" name="Rectangle 51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(0,3)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174355" y="5040649"/>
            <a:ext cx="895350" cy="889139"/>
            <a:chOff x="7258050" y="2346941"/>
            <a:chExt cx="895350" cy="889139"/>
          </a:xfrm>
        </p:grpSpPr>
        <p:sp>
          <p:nvSpPr>
            <p:cNvPr id="55" name="Rectangle 54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(1,3)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9086850" y="5040649"/>
            <a:ext cx="895350" cy="889139"/>
            <a:chOff x="7258050" y="2346941"/>
            <a:chExt cx="895350" cy="889139"/>
          </a:xfrm>
        </p:grpSpPr>
        <p:sp>
          <p:nvSpPr>
            <p:cNvPr id="58" name="Rectangle 57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(2,3)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9970770" y="5040649"/>
            <a:ext cx="895350" cy="889139"/>
            <a:chOff x="7258050" y="2346941"/>
            <a:chExt cx="895350" cy="889139"/>
          </a:xfrm>
        </p:grpSpPr>
        <p:sp>
          <p:nvSpPr>
            <p:cNvPr id="61" name="Rectangle 60"/>
            <p:cNvSpPr/>
            <p:nvPr/>
          </p:nvSpPr>
          <p:spPr>
            <a:xfrm>
              <a:off x="7258050" y="2346941"/>
              <a:ext cx="895350" cy="889139"/>
            </a:xfrm>
            <a:prstGeom prst="rect">
              <a:avLst/>
            </a:prstGeom>
            <a:solidFill>
              <a:srgbClr val="7030A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397115" y="2492195"/>
              <a:ext cx="638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Block</a:t>
              </a:r>
            </a:p>
            <a:p>
              <a:pPr algn="ctr"/>
              <a:r>
                <a:rPr lang="de-DE" sz="1600" dirty="0">
                  <a:solidFill>
                    <a:schemeClr val="bg1"/>
                  </a:solidFill>
                </a:rPr>
                <a:t>(3,3)</a:t>
              </a:r>
              <a:endParaRPr lang="hr-HR" sz="16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63" name="Table 63"/>
          <p:cNvGraphicFramePr>
            <a:graphicFrameLocks noGrp="1"/>
          </p:cNvGraphicFramePr>
          <p:nvPr/>
        </p:nvGraphicFramePr>
        <p:xfrm>
          <a:off x="4984196" y="3882854"/>
          <a:ext cx="146954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 rot="5400000">
            <a:off x="8191461" y="4170917"/>
            <a:ext cx="895350" cy="91630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66" name="Straight Arrow Connector 65"/>
          <p:cNvCxnSpPr>
            <a:stCxn id="40" idx="3"/>
            <a:endCxn id="63" idx="3"/>
          </p:cNvCxnSpPr>
          <p:nvPr/>
        </p:nvCxnSpPr>
        <p:spPr>
          <a:xfrm flipH="1" flipV="1">
            <a:off x="6453744" y="4614374"/>
            <a:ext cx="1699656" cy="6929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124968" y="3429000"/>
            <a:ext cx="118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7030A0"/>
                </a:solidFill>
              </a:rPr>
              <a:t>Block (1,2)</a:t>
            </a:r>
            <a:endParaRPr lang="hr-HR" dirty="0">
              <a:solidFill>
                <a:srgbClr val="7030A0"/>
              </a:solidFill>
            </a:endParaRPr>
          </a:p>
        </p:txBody>
      </p:sp>
      <p:graphicFrame>
        <p:nvGraphicFramePr>
          <p:cNvPr id="71" name="Table 71"/>
          <p:cNvGraphicFramePr>
            <a:graphicFrameLocks noGrp="1"/>
          </p:cNvGraphicFramePr>
          <p:nvPr/>
        </p:nvGraphicFramePr>
        <p:xfrm>
          <a:off x="721239" y="2330304"/>
          <a:ext cx="403906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4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row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pixel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0*4+0=0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0*4+0=0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0*16+0=0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" name="Rectangle 71"/>
          <p:cNvSpPr/>
          <p:nvPr/>
        </p:nvSpPr>
        <p:spPr>
          <a:xfrm rot="5400000">
            <a:off x="7279958" y="2342154"/>
            <a:ext cx="895350" cy="91630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73" name="Straight Arrow Connector 72"/>
          <p:cNvCxnSpPr>
            <a:endCxn id="76" idx="1"/>
          </p:cNvCxnSpPr>
          <p:nvPr/>
        </p:nvCxnSpPr>
        <p:spPr>
          <a:xfrm flipV="1">
            <a:off x="4641783" y="2466065"/>
            <a:ext cx="2646787" cy="37642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7288570" y="2360675"/>
            <a:ext cx="196135" cy="21077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800100" y="4376307"/>
          <a:ext cx="403906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4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col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row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pixel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1*4+2=6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2*4+1=9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9*16+7=151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70" grpId="0"/>
      <p:bldP spid="72" grpId="0" animBg="1"/>
      <p:bldP spid="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428982" y="1919979"/>
            <a:ext cx="1339824" cy="773392"/>
            <a:chOff x="7428981" y="1941731"/>
            <a:chExt cx="1339824" cy="773392"/>
          </a:xfrm>
        </p:grpSpPr>
        <p:sp>
          <p:nvSpPr>
            <p:cNvPr id="41" name="TextBox 40"/>
            <p:cNvSpPr txBox="1"/>
            <p:nvPr/>
          </p:nvSpPr>
          <p:spPr>
            <a:xfrm>
              <a:off x="7428982" y="1941731"/>
              <a:ext cx="133982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/>
                <a:t>0       0       0	</a:t>
              </a:r>
              <a:endParaRPr lang="hr-HR" sz="8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428981" y="2146521"/>
              <a:ext cx="2195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/>
                <a:t>0 	</a:t>
              </a:r>
              <a:endParaRPr lang="hr-HR" sz="8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28983" y="2376569"/>
              <a:ext cx="2195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/>
                <a:t>0 	</a:t>
              </a:r>
              <a:endParaRPr lang="hr-HR" sz="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Analiza</a:t>
            </a:r>
            <a:r>
              <a:rPr lang="de-DE" dirty="0"/>
              <a:t> GPU </a:t>
            </a:r>
            <a:r>
              <a:rPr lang="de-DE" dirty="0" err="1"/>
              <a:t>arhitekture</a:t>
            </a:r>
            <a:r>
              <a:rPr lang="hr-HR" dirty="0"/>
              <a:t> </a:t>
            </a:r>
            <a:r>
              <a:rPr lang="de-DE" dirty="0"/>
              <a:t>i </a:t>
            </a:r>
            <a:r>
              <a:rPr lang="de-DE" dirty="0" err="1"/>
              <a:t>performansi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F0D4-098A-4BEE-962C-49BF72DDD60E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19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997" y="2152125"/>
            <a:ext cx="3515253" cy="348959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628997" y="5641720"/>
            <a:ext cx="351525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524875" y="2152125"/>
            <a:ext cx="0" cy="3489595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391650" y="2161650"/>
            <a:ext cx="0" cy="3489595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267950" y="2171175"/>
            <a:ext cx="0" cy="3489595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628997" y="4774945"/>
            <a:ext cx="350572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638522" y="3908170"/>
            <a:ext cx="350572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648047" y="3031870"/>
            <a:ext cx="350572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20" name="Table 63"/>
          <p:cNvGraphicFramePr>
            <a:graphicFrameLocks noGrp="1"/>
          </p:cNvGraphicFramePr>
          <p:nvPr/>
        </p:nvGraphicFramePr>
        <p:xfrm>
          <a:off x="5305426" y="1852776"/>
          <a:ext cx="1571625" cy="1419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102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126</a:t>
                      </a:r>
                      <a:endParaRPr lang="hr-H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127</a:t>
                      </a:r>
                      <a:endParaRPr lang="hr-H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124</a:t>
                      </a:r>
                      <a:endParaRPr lang="hr-H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02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115</a:t>
                      </a:r>
                      <a:endParaRPr lang="hr-H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123</a:t>
                      </a:r>
                      <a:endParaRPr lang="hr-H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119</a:t>
                      </a:r>
                      <a:endParaRPr lang="hr-HR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02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120</a:t>
                      </a:r>
                      <a:endParaRPr lang="hr-H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125</a:t>
                      </a:r>
                      <a:endParaRPr lang="hr-H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150</a:t>
                      </a:r>
                      <a:endParaRPr lang="hr-H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 rot="5400000">
            <a:off x="7644176" y="2129210"/>
            <a:ext cx="646435" cy="67679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886575" y="2584298"/>
            <a:ext cx="761472" cy="1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096000" y="3272082"/>
            <a:ext cx="0" cy="4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0752" y="3743325"/>
            <a:ext cx="5276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Sortirani</a:t>
            </a:r>
            <a:r>
              <a:rPr lang="de-DE" dirty="0"/>
              <a:t>: 115,119,120,123,</a:t>
            </a:r>
            <a:r>
              <a:rPr lang="de-DE" dirty="0">
                <a:solidFill>
                  <a:srgbClr val="FF0000"/>
                </a:solidFill>
              </a:rPr>
              <a:t>124</a:t>
            </a:r>
            <a:r>
              <a:rPr lang="de-DE" dirty="0"/>
              <a:t>,125,126,127,150</a:t>
            </a:r>
            <a:endParaRPr lang="hr-HR" dirty="0"/>
          </a:p>
        </p:txBody>
      </p:sp>
      <p:sp>
        <p:nvSpPr>
          <p:cNvPr id="28" name="TextBox 27"/>
          <p:cNvSpPr txBox="1"/>
          <p:nvPr/>
        </p:nvSpPr>
        <p:spPr>
          <a:xfrm>
            <a:off x="2190752" y="4100993"/>
            <a:ext cx="314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Medijan</a:t>
            </a:r>
            <a:r>
              <a:rPr lang="de-DE" dirty="0"/>
              <a:t>: </a:t>
            </a:r>
            <a:r>
              <a:rPr lang="de-DE" dirty="0">
                <a:solidFill>
                  <a:srgbClr val="FF0000"/>
                </a:solidFill>
              </a:rPr>
              <a:t>124</a:t>
            </a:r>
            <a:endParaRPr lang="hr-HR" dirty="0">
              <a:solidFill>
                <a:srgbClr val="FF00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848103" y="2338591"/>
            <a:ext cx="561975" cy="366509"/>
            <a:chOff x="3666613" y="2618024"/>
            <a:chExt cx="561975" cy="447675"/>
          </a:xfrm>
        </p:grpSpPr>
        <p:sp>
          <p:nvSpPr>
            <p:cNvPr id="31" name="Rectangle 30"/>
            <p:cNvSpPr/>
            <p:nvPr/>
          </p:nvSpPr>
          <p:spPr>
            <a:xfrm>
              <a:off x="3666613" y="2618024"/>
              <a:ext cx="466725" cy="447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66613" y="2671369"/>
              <a:ext cx="5619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FF0000"/>
                  </a:solidFill>
                </a:rPr>
                <a:t>124</a:t>
              </a:r>
              <a:endParaRPr lang="hr-HR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 rot="5400000">
            <a:off x="7424846" y="1930421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4" name="Rectangle 33"/>
          <p:cNvSpPr/>
          <p:nvPr/>
        </p:nvSpPr>
        <p:spPr>
          <a:xfrm rot="5400000">
            <a:off x="9416090" y="1922683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5" name="Rectangle 34"/>
          <p:cNvSpPr/>
          <p:nvPr/>
        </p:nvSpPr>
        <p:spPr>
          <a:xfrm rot="5400000">
            <a:off x="10715729" y="1922683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6" name="Rectangle 35"/>
          <p:cNvSpPr/>
          <p:nvPr/>
        </p:nvSpPr>
        <p:spPr>
          <a:xfrm rot="5400000">
            <a:off x="10725253" y="3232514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7" name="Rectangle 36"/>
          <p:cNvSpPr/>
          <p:nvPr/>
        </p:nvSpPr>
        <p:spPr>
          <a:xfrm rot="5400000">
            <a:off x="10715730" y="5230677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8" name="Rectangle 37"/>
          <p:cNvSpPr/>
          <p:nvPr/>
        </p:nvSpPr>
        <p:spPr>
          <a:xfrm rot="5400000">
            <a:off x="9406565" y="5194369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9" name="Rectangle 38"/>
          <p:cNvSpPr/>
          <p:nvPr/>
        </p:nvSpPr>
        <p:spPr>
          <a:xfrm rot="5400000">
            <a:off x="7444163" y="5189801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0" name="Rectangle 39"/>
          <p:cNvSpPr/>
          <p:nvPr/>
        </p:nvSpPr>
        <p:spPr>
          <a:xfrm rot="5400000">
            <a:off x="7415321" y="3234508"/>
            <a:ext cx="646435" cy="676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5" name="Rectangle 44"/>
          <p:cNvSpPr/>
          <p:nvPr/>
        </p:nvSpPr>
        <p:spPr>
          <a:xfrm rot="5400000">
            <a:off x="8539515" y="2158385"/>
            <a:ext cx="646435" cy="67679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6" name="Rectangle 45"/>
          <p:cNvSpPr/>
          <p:nvPr/>
        </p:nvSpPr>
        <p:spPr>
          <a:xfrm rot="5400000">
            <a:off x="8749095" y="2155996"/>
            <a:ext cx="646435" cy="67679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8610600" y="2494393"/>
            <a:ext cx="2521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5331" y="2878361"/>
            <a:ext cx="2766744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RUBNI/KRITI</a:t>
            </a:r>
            <a:r>
              <a:rPr lang="hr-HR" dirty="0">
                <a:solidFill>
                  <a:srgbClr val="FF0000"/>
                </a:solidFill>
              </a:rPr>
              <a:t>ČNI DIJELOVI!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535" y="4748769"/>
            <a:ext cx="1736715" cy="369332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accent6">
                    <a:lumMod val="50000"/>
                  </a:schemeClr>
                </a:solidFill>
              </a:rPr>
              <a:t>ZERO PADDING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504" y="4748769"/>
            <a:ext cx="3429000" cy="32385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74" y="5406248"/>
            <a:ext cx="5848350" cy="381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16872" y="1653626"/>
            <a:ext cx="449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dirty="0"/>
              <a:t>Grid (4,4,1), </a:t>
            </a:r>
            <a:r>
              <a:rPr lang="hr-HR" dirty="0" err="1"/>
              <a:t>Block</a:t>
            </a:r>
            <a:r>
              <a:rPr lang="hr-HR" dirty="0"/>
              <a:t> (4,4,1), </a:t>
            </a:r>
            <a:r>
              <a:rPr lang="hr-HR" dirty="0" err="1"/>
              <a:t>Median</a:t>
            </a:r>
            <a:r>
              <a:rPr lang="hr-HR" dirty="0"/>
              <a:t> filter 3x3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7" grpId="0"/>
      <p:bldP spid="28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5" grpId="0" animBg="1"/>
      <p:bldP spid="46" grpId="0" animBg="1"/>
      <p:bldP spid="49" grpId="0" animBg="1"/>
      <p:bldP spid="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Analiza</a:t>
            </a:r>
            <a:r>
              <a:rPr lang="de-DE" dirty="0"/>
              <a:t> GPU </a:t>
            </a:r>
            <a:r>
              <a:rPr lang="de-DE" dirty="0" err="1"/>
              <a:t>arhitekture</a:t>
            </a:r>
            <a:r>
              <a:rPr lang="hr-HR" dirty="0"/>
              <a:t> </a:t>
            </a:r>
            <a:r>
              <a:rPr lang="de-DE" dirty="0"/>
              <a:t>i </a:t>
            </a:r>
            <a:r>
              <a:rPr lang="de-DE" dirty="0" err="1"/>
              <a:t>performansi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3FB3D-C31F-499F-BC7F-358D970A1615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20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997" y="2152125"/>
            <a:ext cx="3515253" cy="348959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524875" y="2152125"/>
            <a:ext cx="0" cy="3489595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391650" y="2161650"/>
            <a:ext cx="0" cy="3489595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267950" y="2171175"/>
            <a:ext cx="0" cy="3489595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628997" y="4774945"/>
            <a:ext cx="350572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638522" y="3908170"/>
            <a:ext cx="350572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648047" y="3031870"/>
            <a:ext cx="3505728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6698" y="18018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hr-HR" sz="1800" dirty="0"/>
              <a:t>Grid (4,4,1), </a:t>
            </a:r>
            <a:r>
              <a:rPr lang="hr-HR" sz="1800" dirty="0" err="1"/>
              <a:t>Block</a:t>
            </a:r>
            <a:r>
              <a:rPr lang="hr-HR" sz="1800" dirty="0"/>
              <a:t> (4,4,1), </a:t>
            </a:r>
            <a:r>
              <a:rPr lang="hr-HR" sz="1800" dirty="0" err="1"/>
              <a:t>Median</a:t>
            </a:r>
            <a:r>
              <a:rPr lang="hr-HR" sz="1800" dirty="0"/>
              <a:t> filter 3x3, </a:t>
            </a:r>
            <a:r>
              <a:rPr lang="hr-HR" sz="1800" b="1" dirty="0" err="1"/>
              <a:t>Shared</a:t>
            </a:r>
            <a:r>
              <a:rPr lang="hr-HR" sz="1800" b="1" dirty="0"/>
              <a:t> </a:t>
            </a:r>
            <a:r>
              <a:rPr lang="hr-HR" sz="1800" b="1" dirty="0" err="1"/>
              <a:t>memory</a:t>
            </a:r>
            <a:endParaRPr lang="hr-HR" sz="1800" b="1" dirty="0"/>
          </a:p>
        </p:txBody>
      </p:sp>
      <p:sp>
        <p:nvSpPr>
          <p:cNvPr id="16" name="Rectangle 15"/>
          <p:cNvSpPr/>
          <p:nvPr/>
        </p:nvSpPr>
        <p:spPr>
          <a:xfrm rot="5400000">
            <a:off x="7644176" y="2129210"/>
            <a:ext cx="646435" cy="67679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7" name="Rectangle 16"/>
          <p:cNvSpPr/>
          <p:nvPr/>
        </p:nvSpPr>
        <p:spPr>
          <a:xfrm rot="5400000">
            <a:off x="7424238" y="1931235"/>
            <a:ext cx="1086309" cy="11149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grpSp>
        <p:nvGrpSpPr>
          <p:cNvPr id="38" name="Group 37"/>
          <p:cNvGrpSpPr/>
          <p:nvPr/>
        </p:nvGrpSpPr>
        <p:grpSpPr>
          <a:xfrm>
            <a:off x="7408235" y="1903443"/>
            <a:ext cx="1137910" cy="1147435"/>
            <a:chOff x="7408235" y="1903443"/>
            <a:chExt cx="1137910" cy="1147435"/>
          </a:xfrm>
        </p:grpSpPr>
        <p:sp>
          <p:nvSpPr>
            <p:cNvPr id="18" name="TextBox 17"/>
            <p:cNvSpPr txBox="1"/>
            <p:nvPr/>
          </p:nvSpPr>
          <p:spPr>
            <a:xfrm>
              <a:off x="7820030" y="1903443"/>
              <a:ext cx="3333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1050" dirty="0">
                  <a:solidFill>
                    <a:schemeClr val="accent5"/>
                  </a:solidFill>
                </a:rPr>
                <a:t>+1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839080" y="2789268"/>
              <a:ext cx="3333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1050" dirty="0">
                  <a:solidFill>
                    <a:schemeClr val="accent5"/>
                  </a:solidFill>
                </a:rPr>
                <a:t>+1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 rot="16200000">
              <a:off x="7372355" y="2332068"/>
              <a:ext cx="3333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1050" dirty="0">
                  <a:solidFill>
                    <a:schemeClr val="accent5"/>
                  </a:solidFill>
                </a:rPr>
                <a:t>+1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 rot="16200000">
              <a:off x="8248655" y="2341593"/>
              <a:ext cx="3333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1050" dirty="0">
                  <a:solidFill>
                    <a:schemeClr val="accent5"/>
                  </a:solidFill>
                </a:rPr>
                <a:t>+1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51671" y="290106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6F008A"/>
                </a:solidFill>
                <a:latin typeface="Consolas" pitchFamily="49" charset="0"/>
              </a:rPr>
              <a:t>__shared__</a:t>
            </a:r>
            <a:r>
              <a:rPr lang="en-US" sz="11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itchFamily="49" charset="0"/>
              </a:rPr>
              <a:t>unsigned</a:t>
            </a:r>
            <a:r>
              <a:rPr lang="en-US" sz="11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1100" dirty="0">
                <a:solidFill>
                  <a:srgbClr val="000000"/>
                </a:solidFill>
                <a:latin typeface="Consolas" pitchFamily="49" charset="0"/>
              </a:rPr>
              <a:t>[(</a:t>
            </a:r>
            <a:r>
              <a:rPr lang="en-US" sz="1100" dirty="0">
                <a:solidFill>
                  <a:srgbClr val="6F008A"/>
                </a:solidFill>
                <a:latin typeface="Consolas" pitchFamily="49" charset="0"/>
              </a:rPr>
              <a:t>WINDOW_SIZE</a:t>
            </a:r>
            <a:r>
              <a:rPr lang="en-US" sz="1100" dirty="0">
                <a:solidFill>
                  <a:srgbClr val="000000"/>
                </a:solidFill>
                <a:latin typeface="Consolas" pitchFamily="49" charset="0"/>
              </a:rPr>
              <a:t> + 2)][(</a:t>
            </a:r>
            <a:r>
              <a:rPr lang="en-US" sz="1100" dirty="0">
                <a:solidFill>
                  <a:srgbClr val="6F008A"/>
                </a:solidFill>
                <a:latin typeface="Consolas" pitchFamily="49" charset="0"/>
              </a:rPr>
              <a:t>WINDOW_SIZE</a:t>
            </a:r>
            <a:r>
              <a:rPr lang="en-US" sz="1100" dirty="0">
                <a:solidFill>
                  <a:srgbClr val="000000"/>
                </a:solidFill>
                <a:latin typeface="Consolas" pitchFamily="49" charset="0"/>
              </a:rPr>
              <a:t> + 2)];</a:t>
            </a:r>
            <a:endParaRPr lang="hr-HR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661195" y="250249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100" dirty="0">
                <a:solidFill>
                  <a:srgbClr val="808080"/>
                </a:solidFill>
                <a:latin typeface="Consolas" pitchFamily="49" charset="0"/>
              </a:rPr>
              <a:t>#define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hr-HR" sz="1100" dirty="0">
                <a:solidFill>
                  <a:srgbClr val="6F008A"/>
                </a:solidFill>
                <a:latin typeface="Consolas" pitchFamily="49" charset="0"/>
              </a:rPr>
              <a:t>WINDOW_SIZE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 3</a:t>
            </a:r>
            <a:endParaRPr lang="hr-HR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613570" y="3353120"/>
            <a:ext cx="69415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1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hr-HR" sz="11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 + 1][</a:t>
            </a:r>
            <a:r>
              <a:rPr lang="hr-HR" sz="11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 + 1] = </a:t>
            </a:r>
            <a:r>
              <a:rPr lang="hr-HR" sz="1100" dirty="0" err="1">
                <a:solidFill>
                  <a:srgbClr val="808080"/>
                </a:solidFill>
                <a:latin typeface="Consolas" pitchFamily="49" charset="0"/>
              </a:rPr>
              <a:t>inputImageKernel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hr-HR" sz="1100" dirty="0" err="1">
                <a:solidFill>
                  <a:srgbClr val="000000"/>
                </a:solidFill>
                <a:latin typeface="Consolas" pitchFamily="49" charset="0"/>
              </a:rPr>
              <a:t>row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 * </a:t>
            </a:r>
            <a:r>
              <a:rPr lang="hr-HR" sz="1100" dirty="0" err="1">
                <a:solidFill>
                  <a:srgbClr val="808080"/>
                </a:solidFill>
                <a:latin typeface="Consolas" pitchFamily="49" charset="0"/>
              </a:rPr>
              <a:t>imageWidth</a:t>
            </a:r>
            <a:r>
              <a:rPr lang="hr-HR" sz="1100" dirty="0">
                <a:solidFill>
                  <a:srgbClr val="000000"/>
                </a:solidFill>
                <a:latin typeface="Consolas" pitchFamily="49" charset="0"/>
              </a:rPr>
              <a:t> + col];</a:t>
            </a:r>
          </a:p>
          <a:p>
            <a:endParaRPr lang="hr-HR" sz="110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1195" y="41102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dirty="0">
                <a:solidFill>
                  <a:srgbClr val="FF0000"/>
                </a:solidFill>
                <a:latin typeface="Consolas" pitchFamily="49" charset="0"/>
              </a:rPr>
              <a:t>__</a:t>
            </a:r>
            <a:r>
              <a:rPr lang="hr-HR" sz="1800" dirty="0" err="1">
                <a:solidFill>
                  <a:srgbClr val="FF0000"/>
                </a:solidFill>
                <a:latin typeface="Consolas" pitchFamily="49" charset="0"/>
              </a:rPr>
              <a:t>syncthreads</a:t>
            </a:r>
            <a:r>
              <a:rPr lang="hr-HR" sz="1800" dirty="0">
                <a:solidFill>
                  <a:srgbClr val="FF0000"/>
                </a:solidFill>
                <a:latin typeface="Consolas" pitchFamily="49" charset="0"/>
              </a:rPr>
              <a:t>();</a:t>
            </a:r>
            <a:endParaRPr lang="hr-HR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5848" y="369745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2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hr-HR" sz="12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de-DE" sz="1200" dirty="0">
                <a:solidFill>
                  <a:srgbClr val="000000"/>
                </a:solidFill>
                <a:latin typeface="Consolas" pitchFamily="49" charset="0"/>
              </a:rPr>
              <a:t>][] = </a:t>
            </a:r>
            <a:r>
              <a:rPr lang="de-DE" sz="1200" dirty="0" err="1">
                <a:solidFill>
                  <a:srgbClr val="000000"/>
                </a:solidFill>
                <a:latin typeface="Consolas" pitchFamily="49" charset="0"/>
              </a:rPr>
              <a:t>imputImageKernel</a:t>
            </a:r>
            <a:r>
              <a:rPr lang="de-DE" sz="12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de-DE" sz="1200" dirty="0" err="1">
                <a:solidFill>
                  <a:srgbClr val="000000"/>
                </a:solidFill>
                <a:latin typeface="Consolas" pitchFamily="49" charset="0"/>
              </a:rPr>
              <a:t>rubni_dijelovi</a:t>
            </a:r>
            <a:r>
              <a:rPr lang="de-DE" sz="1200" dirty="0">
                <a:solidFill>
                  <a:srgbClr val="000000"/>
                </a:solidFill>
                <a:latin typeface="Consolas" pitchFamily="49" charset="0"/>
              </a:rPr>
              <a:t>];</a:t>
            </a:r>
            <a:endParaRPr lang="hr-HR" sz="120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4940291"/>
            <a:ext cx="6874835" cy="5232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0000FF"/>
                </a:solidFill>
                <a:latin typeface="Consolas" pitchFamily="49" charset="0"/>
              </a:rPr>
              <a:t>unsigned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filterVector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[9] = </a:t>
            </a:r>
          </a:p>
          <a:p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{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],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+ 1][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],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+ 2][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],</a:t>
            </a:r>
          </a:p>
          <a:p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 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+ 1],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+ 1][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+ 1],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+ 2][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+ 1],</a:t>
            </a:r>
          </a:p>
          <a:p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 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+ 2],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+ 1][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+ 2], 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sharedmem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threadIdx.x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+ 2][</a:t>
            </a:r>
            <a:r>
              <a:rPr lang="en-US" sz="700" dirty="0" err="1">
                <a:solidFill>
                  <a:srgbClr val="000000"/>
                </a:solidFill>
                <a:latin typeface="Consolas" pitchFamily="49" charset="0"/>
              </a:rPr>
              <a:t>threadIdx.y</a:t>
            </a:r>
            <a:r>
              <a:rPr lang="en-US" sz="700" dirty="0">
                <a:solidFill>
                  <a:srgbClr val="000000"/>
                </a:solidFill>
                <a:latin typeface="Consolas" pitchFamily="49" charset="0"/>
              </a:rPr>
              <a:t> + 2] };</a:t>
            </a:r>
            <a:endParaRPr lang="hr-HR" sz="7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3959389" y="4594001"/>
            <a:ext cx="391633" cy="34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51022" y="4210050"/>
            <a:ext cx="2211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Punjenje</a:t>
            </a:r>
            <a:r>
              <a:rPr lang="de-DE" sz="1400" dirty="0"/>
              <a:t> </a:t>
            </a:r>
            <a:r>
              <a:rPr lang="de-DE" sz="1400" dirty="0" err="1"/>
              <a:t>filter</a:t>
            </a:r>
            <a:r>
              <a:rPr lang="de-DE" sz="1400" dirty="0"/>
              <a:t> </a:t>
            </a:r>
            <a:r>
              <a:rPr lang="de-DE" sz="1400" dirty="0" err="1"/>
              <a:t>prozora</a:t>
            </a:r>
            <a:r>
              <a:rPr lang="de-DE" sz="1400" dirty="0"/>
              <a:t> s </a:t>
            </a:r>
            <a:r>
              <a:rPr lang="de-DE" sz="1400" dirty="0" err="1"/>
              <a:t>vrijednostima</a:t>
            </a:r>
            <a:r>
              <a:rPr lang="de-DE" sz="1400" dirty="0"/>
              <a:t> </a:t>
            </a:r>
            <a:r>
              <a:rPr lang="de-DE" sz="1400" dirty="0" err="1"/>
              <a:t>iz</a:t>
            </a:r>
            <a:r>
              <a:rPr lang="de-DE" sz="1400" dirty="0"/>
              <a:t> </a:t>
            </a:r>
            <a:r>
              <a:rPr lang="de-DE" sz="1400" b="1" dirty="0" err="1"/>
              <a:t>dijeljene</a:t>
            </a:r>
            <a:r>
              <a:rPr lang="de-DE" sz="1400" b="1" dirty="0"/>
              <a:t> </a:t>
            </a:r>
            <a:r>
              <a:rPr lang="de-DE" sz="1400" b="1" dirty="0" err="1"/>
              <a:t>memorije</a:t>
            </a:r>
            <a:endParaRPr lang="hr-HR" sz="1400" b="1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7628997" y="5641720"/>
            <a:ext cx="351525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3" grpId="0"/>
      <p:bldP spid="25" grpId="0"/>
      <p:bldP spid="27" grpId="0"/>
      <p:bldP spid="29" grpId="0"/>
      <p:bldP spid="31" grpId="0"/>
      <p:bldP spid="33" grpId="0" animBg="1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Kritička analiza performansi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DCBAD-9BE5-4139-B44B-EAEA1542B02B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21</a:t>
            </a:fld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838199" y="1987622"/>
            <a:ext cx="651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hr-HR" dirty="0"/>
              <a:t>MEDIAN FILTER – CPU vs. GPU </a:t>
            </a:r>
            <a:r>
              <a:rPr lang="hr-HR" dirty="0" err="1"/>
              <a:t>Shared</a:t>
            </a:r>
            <a:r>
              <a:rPr lang="hr-HR" dirty="0"/>
              <a:t> </a:t>
            </a:r>
            <a:r>
              <a:rPr lang="hr-HR" dirty="0" err="1"/>
              <a:t>Memory</a:t>
            </a:r>
            <a:r>
              <a:rPr lang="hr-HR" dirty="0"/>
              <a:t> vs. GPU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199" y="3458452"/>
          <a:ext cx="4979595" cy="1283970"/>
        </p:xfrm>
        <a:graphic>
          <a:graphicData uri="http://schemas.openxmlformats.org/drawingml/2006/table">
            <a:tbl>
              <a:tblPr/>
              <a:tblGrid>
                <a:gridCol w="873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8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FESB1CV.bmp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BLOCK_SIZE =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Dimenzije </a:t>
                      </a:r>
                      <a:r>
                        <a:rPr lang="hr-H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median</a:t>
                      </a: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 filtra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7x7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9x9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Hardware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CPU [ms]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9C0006"/>
                          </a:solidFill>
                          <a:effectLst/>
                          <a:latin typeface="Calibri" pitchFamily="34" charset="0"/>
                        </a:rPr>
                        <a:t>47.997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9C0006"/>
                          </a:solidFill>
                          <a:effectLst/>
                          <a:latin typeface="Calibri" pitchFamily="34" charset="0"/>
                        </a:rPr>
                        <a:t>315.657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9C0006"/>
                          </a:solidFill>
                          <a:effectLst/>
                          <a:latin typeface="Calibri" pitchFamily="34" charset="0"/>
                        </a:rPr>
                        <a:t>1180.67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9C0006"/>
                          </a:solidFill>
                          <a:effectLst/>
                          <a:latin typeface="Calibri" pitchFamily="34" charset="0"/>
                        </a:rPr>
                        <a:t>2607.65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GPU [</a:t>
                      </a:r>
                      <a:r>
                        <a:rPr lang="hr-H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us</a:t>
                      </a: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]</a:t>
                      </a:r>
                      <a:b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</a:b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(</a:t>
                      </a:r>
                      <a:r>
                        <a:rPr lang="hr-H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Shared</a:t>
                      </a: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lang="hr-H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memory</a:t>
                      </a: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GPU [</a:t>
                      </a:r>
                      <a:r>
                        <a:rPr lang="hr-H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us</a:t>
                      </a: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itchFamily="34" charset="0"/>
                        <a:buNone/>
                      </a:pPr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0" y="3300218"/>
            <a:ext cx="57106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de-DE" sz="1400" dirty="0" err="1"/>
              <a:t>Za</a:t>
            </a:r>
            <a:r>
              <a:rPr lang="de-DE" sz="1400" dirty="0"/>
              <a:t> </a:t>
            </a:r>
            <a:r>
              <a:rPr lang="de-DE" sz="1400" b="1" dirty="0" err="1"/>
              <a:t>digitalnu</a:t>
            </a:r>
            <a:r>
              <a:rPr lang="de-DE" sz="1400" b="1" dirty="0"/>
              <a:t> </a:t>
            </a:r>
            <a:r>
              <a:rPr lang="de-DE" sz="1400" b="1" dirty="0" err="1"/>
              <a:t>obradu</a:t>
            </a:r>
            <a:r>
              <a:rPr lang="de-DE" sz="1400" b="1" dirty="0"/>
              <a:t> </a:t>
            </a:r>
            <a:r>
              <a:rPr lang="de-DE" sz="1400" b="1" dirty="0" err="1"/>
              <a:t>slike</a:t>
            </a:r>
            <a:r>
              <a:rPr lang="de-DE" sz="1400" dirty="0"/>
              <a:t>, </a:t>
            </a:r>
            <a:r>
              <a:rPr lang="de-DE" sz="1400" dirty="0" err="1"/>
              <a:t>prema</a:t>
            </a:r>
            <a:r>
              <a:rPr lang="de-DE" sz="1400" dirty="0"/>
              <a:t> </a:t>
            </a:r>
            <a:r>
              <a:rPr lang="de-DE" sz="1400" dirty="0" err="1"/>
              <a:t>izmjerenim</a:t>
            </a:r>
            <a:r>
              <a:rPr lang="de-DE" sz="1400" dirty="0"/>
              <a:t> </a:t>
            </a:r>
            <a:r>
              <a:rPr lang="de-DE" sz="1400" dirty="0" err="1"/>
              <a:t>vrijednostima</a:t>
            </a:r>
            <a:r>
              <a:rPr lang="de-DE" sz="1400" dirty="0"/>
              <a:t>, </a:t>
            </a:r>
            <a:r>
              <a:rPr lang="de-DE" sz="1400" dirty="0" err="1"/>
              <a:t>dosta</a:t>
            </a:r>
            <a:r>
              <a:rPr lang="de-DE" sz="1400" dirty="0"/>
              <a:t> je </a:t>
            </a:r>
            <a:r>
              <a:rPr lang="de-DE" sz="1400" b="1" dirty="0" err="1"/>
              <a:t>pogodniji</a:t>
            </a:r>
            <a:r>
              <a:rPr lang="de-DE" sz="1400" b="1" dirty="0"/>
              <a:t> GPU</a:t>
            </a:r>
            <a:r>
              <a:rPr lang="hr-HR" sz="1400" b="1" dirty="0"/>
              <a:t> </a:t>
            </a:r>
            <a:r>
              <a:rPr lang="de-DE" sz="1400" dirty="0"/>
              <a:t>u </a:t>
            </a:r>
            <a:r>
              <a:rPr lang="de-DE" sz="1400" dirty="0" err="1"/>
              <a:t>odnosu</a:t>
            </a:r>
            <a:r>
              <a:rPr lang="de-DE" sz="1400" dirty="0"/>
              <a:t> na CPU</a:t>
            </a:r>
            <a:endParaRPr lang="hr-H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hr-HR" sz="1400" dirty="0"/>
              <a:t>GPU je namijenjen za </a:t>
            </a:r>
            <a:r>
              <a:rPr lang="hr-HR" sz="1400" b="1" dirty="0"/>
              <a:t>paralelno izvođenje naredbi</a:t>
            </a:r>
            <a:r>
              <a:rPr lang="hr-HR" sz="1400" dirty="0"/>
              <a:t>, dok je CPU pogodan za sekvencijalno izvođenje naredbi (jedna za drugom</a:t>
            </a:r>
            <a:r>
              <a:rPr lang="de-DE" sz="1400" dirty="0"/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hr-HR" sz="1400" dirty="0"/>
              <a:t>GPU ima </a:t>
            </a:r>
            <a:r>
              <a:rPr lang="hr-HR" sz="1400" b="1" dirty="0"/>
              <a:t>dosta više jezgri </a:t>
            </a:r>
            <a:r>
              <a:rPr lang="hr-HR" sz="1400" dirty="0"/>
              <a:t>u odnosu na CPU, iako </a:t>
            </a:r>
            <a:r>
              <a:rPr lang="hr-HR" sz="1400" b="1" dirty="0"/>
              <a:t>slabije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hr-HR" sz="1400" dirty="0"/>
              <a:t>GPU i CPU imaju različite ideje za </a:t>
            </a:r>
            <a:r>
              <a:rPr lang="hr-HR" sz="1400" b="1" dirty="0"/>
              <a:t>modeliranje latencije</a:t>
            </a:r>
            <a:r>
              <a:rPr lang="hr-HR" sz="1400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hr-HR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Kritička analiza performansi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03EE5-C694-47D4-9049-ACA9FEB82448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22</a:t>
            </a:fld>
            <a:endParaRPr lang="hr-HR"/>
          </a:p>
        </p:txBody>
      </p:sp>
      <p:graphicFrame>
        <p:nvGraphicFramePr>
          <p:cNvPr id="7" name="Chart 6"/>
          <p:cNvGraphicFramePr/>
          <p:nvPr/>
        </p:nvGraphicFramePr>
        <p:xfrm>
          <a:off x="1116948" y="2171399"/>
          <a:ext cx="4429838" cy="3798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5744385" y="2171399"/>
          <a:ext cx="5107646" cy="3798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16947" y="1690688"/>
            <a:ext cx="8112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hr-HR" dirty="0"/>
              <a:t>MEDIAN FILTER – UTJECAJ SHARED MEMORIJE i BLOCK VELIČINE NA RAD GPU-a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2582" y="2552354"/>
            <a:ext cx="1283539" cy="328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Rectangle 10"/>
          <p:cNvSpPr/>
          <p:nvPr/>
        </p:nvSpPr>
        <p:spPr>
          <a:xfrm>
            <a:off x="8091578" y="2552354"/>
            <a:ext cx="1397480" cy="328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2" name="Rectangle 11"/>
          <p:cNvSpPr/>
          <p:nvPr/>
        </p:nvSpPr>
        <p:spPr>
          <a:xfrm>
            <a:off x="2048328" y="5628043"/>
            <a:ext cx="2618563" cy="32886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3" name="Rectangle 12"/>
          <p:cNvSpPr/>
          <p:nvPr/>
        </p:nvSpPr>
        <p:spPr>
          <a:xfrm>
            <a:off x="6988926" y="5628042"/>
            <a:ext cx="2618563" cy="32886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Kritička analiza performansi </a:t>
            </a:r>
            <a:endParaRPr lang="hr-HR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0B47-E04B-45FE-8780-2D5C9FF51BF0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 dirty="0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23</a:t>
            </a:fld>
            <a:endParaRPr lang="hr-HR"/>
          </a:p>
        </p:txBody>
      </p:sp>
      <p:sp>
        <p:nvSpPr>
          <p:cNvPr id="8" name="TextBox 7"/>
          <p:cNvSpPr txBox="1"/>
          <p:nvPr/>
        </p:nvSpPr>
        <p:spPr>
          <a:xfrm>
            <a:off x="494523" y="1664201"/>
            <a:ext cx="805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hr-HR" dirty="0"/>
              <a:t>MEDIAN FILTER – UTJECAJ SHARED MEMORIJE i BLOCK VELIČINE NA RAD GPU-a?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523" y="2513470"/>
            <a:ext cx="77127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hr-HR" sz="1600" dirty="0"/>
              <a:t>Veličina </a:t>
            </a:r>
            <a:r>
              <a:rPr lang="hr-HR" sz="1600" dirty="0" err="1"/>
              <a:t>shared</a:t>
            </a:r>
            <a:r>
              <a:rPr lang="hr-HR" sz="1600" dirty="0"/>
              <a:t> memorije ovisi o veličini prozora </a:t>
            </a:r>
            <a:r>
              <a:rPr lang="hr-HR" sz="1600" dirty="0" err="1"/>
              <a:t>median</a:t>
            </a:r>
            <a:r>
              <a:rPr lang="hr-HR" sz="1600" dirty="0"/>
              <a:t> filtra, a pomicanje o trenutnom </a:t>
            </a:r>
            <a:r>
              <a:rPr lang="hr-HR" sz="1600" dirty="0" err="1"/>
              <a:t>threadu</a:t>
            </a:r>
            <a:r>
              <a:rPr lang="hr-HR" sz="1600" dirty="0"/>
              <a:t> unutar bloka koji je mapiran u 2D, duž x osi (col) te duž y osi (</a:t>
            </a:r>
            <a:r>
              <a:rPr lang="hr-HR" sz="1600" dirty="0" err="1"/>
              <a:t>row</a:t>
            </a:r>
            <a:r>
              <a:rPr lang="hr-H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hr-HR" sz="1600" dirty="0"/>
              <a:t>Očekivano je da je </a:t>
            </a:r>
            <a:r>
              <a:rPr lang="hr-HR" sz="1600" b="1" dirty="0"/>
              <a:t>optimalno</a:t>
            </a:r>
            <a:r>
              <a:rPr lang="hr-HR" sz="1600" dirty="0"/>
              <a:t> pokrenuti </a:t>
            </a:r>
            <a:r>
              <a:rPr lang="hr-HR" sz="1600" dirty="0" err="1"/>
              <a:t>kernel</a:t>
            </a:r>
            <a:r>
              <a:rPr lang="hr-HR" sz="1600" dirty="0"/>
              <a:t> s </a:t>
            </a:r>
            <a:r>
              <a:rPr lang="hr-HR" sz="1600" b="1" dirty="0"/>
              <a:t>jednim</a:t>
            </a:r>
            <a:r>
              <a:rPr lang="hr-HR" sz="1600" dirty="0"/>
              <a:t> </a:t>
            </a:r>
            <a:r>
              <a:rPr lang="hr-HR" sz="1600" b="1" dirty="0"/>
              <a:t>blokom</a:t>
            </a:r>
            <a:r>
              <a:rPr lang="hr-HR" sz="1600" dirty="0"/>
              <a:t> i više </a:t>
            </a:r>
            <a:r>
              <a:rPr lang="hr-HR" sz="1600" b="1" dirty="0"/>
              <a:t>pripadnih dretvi</a:t>
            </a:r>
            <a:r>
              <a:rPr lang="hr-HR" sz="1600" dirty="0"/>
              <a:t>, nego obratno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hr-HR" sz="1600" dirty="0"/>
              <a:t>Veličina </a:t>
            </a:r>
            <a:r>
              <a:rPr lang="hr-HR" sz="1600" dirty="0" err="1"/>
              <a:t>Shared</a:t>
            </a:r>
            <a:r>
              <a:rPr lang="hr-HR" sz="1600" dirty="0"/>
              <a:t> Memorije za </a:t>
            </a:r>
            <a:r>
              <a:rPr lang="hr-HR" sz="1600" dirty="0">
                <a:solidFill>
                  <a:schemeClr val="accent6"/>
                </a:solidFill>
              </a:rPr>
              <a:t>NVIDIA GTX 850M </a:t>
            </a:r>
            <a:r>
              <a:rPr lang="hr-HR" sz="1600" dirty="0"/>
              <a:t>je 48 </a:t>
            </a:r>
            <a:r>
              <a:rPr lang="hr-HR" sz="1600" dirty="0" err="1"/>
              <a:t>kB</a:t>
            </a:r>
            <a:r>
              <a:rPr lang="hr-HR" sz="1600" dirty="0"/>
              <a:t>, dretvi u bloku (1024,1024,64) i dimenzije </a:t>
            </a:r>
            <a:r>
              <a:rPr lang="hr-HR" sz="1600" dirty="0" err="1"/>
              <a:t>grid</a:t>
            </a:r>
            <a:r>
              <a:rPr lang="hr-HR" sz="1600" dirty="0"/>
              <a:t>-a (2147483647, 65535, 65535)</a:t>
            </a:r>
            <a:r>
              <a:rPr lang="de-DE" sz="1600" dirty="0"/>
              <a:t>, </a:t>
            </a:r>
            <a:r>
              <a:rPr lang="hr-HR" sz="1600" dirty="0" err="1"/>
              <a:t>warp</a:t>
            </a:r>
            <a:r>
              <a:rPr lang="hr-HR" sz="1600" dirty="0"/>
              <a:t> </a:t>
            </a:r>
            <a:r>
              <a:rPr lang="hr-HR" sz="1600" dirty="0" err="1"/>
              <a:t>size</a:t>
            </a:r>
            <a:r>
              <a:rPr lang="hr-HR" sz="1600" dirty="0"/>
              <a:t> GPU je 32 (u kodu se ne smije premašiti </a:t>
            </a:r>
            <a:r>
              <a:rPr lang="de-DE" sz="1600" dirty="0">
                <a:solidFill>
                  <a:srgbClr val="7030A0"/>
                </a:solidFill>
              </a:rPr>
              <a:t>#define BLOCK 32</a:t>
            </a:r>
            <a:r>
              <a:rPr lang="de-DE" sz="1600" dirty="0"/>
              <a:t>)</a:t>
            </a:r>
            <a:endParaRPr lang="hr-HR" sz="1400" dirty="0"/>
          </a:p>
          <a:p>
            <a:pPr marL="285750" indent="-285750">
              <a:buFont typeface="Arial" pitchFamily="34" charset="0"/>
              <a:buChar char="•"/>
            </a:pPr>
            <a:endParaRPr lang="hr-HR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875" y="2075625"/>
            <a:ext cx="3230499" cy="373122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05505" y="3399341"/>
            <a:ext cx="1341934" cy="21870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7" name="Straight Arrow Connector 16"/>
          <p:cNvCxnSpPr>
            <a:cxnSpLocks/>
            <a:stCxn id="16" idx="3"/>
          </p:cNvCxnSpPr>
          <p:nvPr/>
        </p:nvCxnSpPr>
        <p:spPr>
          <a:xfrm flipV="1">
            <a:off x="6147439" y="2597655"/>
            <a:ext cx="2463161" cy="911038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549570" y="2409436"/>
            <a:ext cx="1448445" cy="20849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3" name="Rectangle 22"/>
          <p:cNvSpPr/>
          <p:nvPr/>
        </p:nvSpPr>
        <p:spPr>
          <a:xfrm>
            <a:off x="6611371" y="3399341"/>
            <a:ext cx="1447386" cy="21870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4" name="Straight Arrow Connector 23"/>
          <p:cNvCxnSpPr>
            <a:cxnSpLocks/>
            <a:stCxn id="23" idx="3"/>
          </p:cNvCxnSpPr>
          <p:nvPr/>
        </p:nvCxnSpPr>
        <p:spPr>
          <a:xfrm>
            <a:off x="8058757" y="3508693"/>
            <a:ext cx="551843" cy="18821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8058757" y="3510798"/>
            <a:ext cx="1215035" cy="1072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Kritička analiza performansi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0A23-4BE3-4341-A7D5-FCA022B44949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24</a:t>
            </a:fld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1116947" y="1690688"/>
            <a:ext cx="796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hr-HR" dirty="0"/>
              <a:t>MEDIAN FILTER – UTJECAJ SHARED MEMORIJE i BLOCK VELIČINE NA RAD GPU-a</a:t>
            </a:r>
          </a:p>
        </p:txBody>
      </p:sp>
      <p:graphicFrame>
        <p:nvGraphicFramePr>
          <p:cNvPr id="8" name="Chart 7"/>
          <p:cNvGraphicFramePr/>
          <p:nvPr/>
        </p:nvGraphicFramePr>
        <p:xfrm>
          <a:off x="1433145" y="2242985"/>
          <a:ext cx="5157833" cy="3304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6726437" y="2242986"/>
          <a:ext cx="4431001" cy="330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2063263" y="3080492"/>
            <a:ext cx="1638300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758462" y="3959919"/>
            <a:ext cx="701413" cy="963773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1692" y="4923692"/>
            <a:ext cx="2303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Za filtre manjih dimenzija sa strane performansi dobar je </a:t>
            </a:r>
            <a:r>
              <a:rPr lang="hr-HR" sz="1200" b="1" dirty="0"/>
              <a:t>manji broj blokova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580" y="2740523"/>
            <a:ext cx="1638300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338754" y="3619950"/>
            <a:ext cx="5258439" cy="130374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24009" y="3523487"/>
            <a:ext cx="1638300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956280" y="4402914"/>
            <a:ext cx="445022" cy="61724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599642" y="2895749"/>
            <a:ext cx="1638300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7200580" y="3775176"/>
            <a:ext cx="3219171" cy="124497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39185" y="5032758"/>
            <a:ext cx="2303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Za filtre većih dimenzija sa strane performansi učinkovitija je obrada s </a:t>
            </a:r>
            <a:r>
              <a:rPr lang="hr-HR" sz="1200" b="1" dirty="0"/>
              <a:t>većim brojem blokova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0470" y="2320155"/>
            <a:ext cx="2035711" cy="328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8838880" y="2327113"/>
            <a:ext cx="529407" cy="328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 animBg="1"/>
      <p:bldP spid="18" grpId="0" animBg="1"/>
      <p:bldP spid="22" grpId="0" animBg="1"/>
      <p:bldP spid="25" grpId="0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65E2-E42F-4C38-ABEC-6C3494D6A315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25</a:t>
            </a:fld>
            <a:endParaRPr lang="hr-HR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hr-HR" dirty="0"/>
              <a:t>Kritička analiza performansi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947" y="1690688"/>
            <a:ext cx="733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hr-HR" dirty="0"/>
              <a:t>MEDIAN FILTER – UTJECAJ VELIČINE BLOKOVA NA RAD FILTRA </a:t>
            </a:r>
          </a:p>
        </p:txBody>
      </p:sp>
      <p:graphicFrame>
        <p:nvGraphicFramePr>
          <p:cNvPr id="9" name="Chart 8"/>
          <p:cNvGraphicFramePr/>
          <p:nvPr/>
        </p:nvGraphicFramePr>
        <p:xfrm>
          <a:off x="6096000" y="2265595"/>
          <a:ext cx="5572572" cy="3823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3767" y="2330242"/>
          <a:ext cx="5078330" cy="1417320"/>
        </p:xfrm>
        <a:graphic>
          <a:graphicData uri="http://schemas.openxmlformats.org/drawingml/2006/table">
            <a:tbl>
              <a:tblPr/>
              <a:tblGrid>
                <a:gridCol w="58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5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5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695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FESB1.jpg [us]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(GPU-Shared memory)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Dimenzije median filtra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dimBlock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dimGrid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95">
                <a:tc gridSpan="2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7x7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9x9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69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Block</a:t>
                      </a:r>
                      <a:b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</a:b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size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217800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69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54450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69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13613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69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3403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69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851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69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748315"/>
              </p:ext>
            </p:extLst>
          </p:nvPr>
        </p:nvGraphicFramePr>
        <p:xfrm>
          <a:off x="673767" y="3933350"/>
          <a:ext cx="5078328" cy="1417320"/>
        </p:xfrm>
        <a:graphic>
          <a:graphicData uri="http://schemas.openxmlformats.org/drawingml/2006/table">
            <a:tbl>
              <a:tblPr/>
              <a:tblGrid>
                <a:gridCol w="101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7165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FESB4.jpg (GPU) [us]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Dimenzije median filtra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dimBlock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dimGrid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">
                <a:tc gridSpan="2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7x7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9x9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Block</a:t>
                      </a:r>
                      <a:b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</a:br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size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217800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54450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13613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3403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851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3767" y="5517775"/>
          <a:ext cx="3797301" cy="571500"/>
        </p:xfrm>
        <a:graphic>
          <a:graphicData uri="http://schemas.openxmlformats.org/drawingml/2006/table">
            <a:tbl>
              <a:tblPr/>
              <a:tblGrid>
                <a:gridCol w="751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FESB4.jpg (CPU) [us]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Dimenzije median filtra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7x7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9x9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Block size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46.903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351.505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1185.33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2715.38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497CC-698A-4652-8927-AE604D2D0002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26</a:t>
            </a:fld>
            <a:endParaRPr lang="hr-HR"/>
          </a:p>
        </p:txBody>
      </p:sp>
      <p:sp>
        <p:nvSpPr>
          <p:cNvPr id="7" name="TextBox 6"/>
          <p:cNvSpPr txBox="1"/>
          <p:nvPr/>
        </p:nvSpPr>
        <p:spPr>
          <a:xfrm>
            <a:off x="816461" y="370583"/>
            <a:ext cx="733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hr-HR" dirty="0"/>
              <a:t>MEDIAN FILTER – UTJECAJ REZOLUCIJE SLIKE NA RAD GPU-a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200" y="1310018"/>
          <a:ext cx="4152900" cy="1514475"/>
        </p:xfrm>
        <a:graphic>
          <a:graphicData uri="http://schemas.openxmlformats.org/drawingml/2006/table">
            <a:tbl>
              <a:tblPr/>
              <a:tblGrid>
                <a:gridCol w="88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Slika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FESB1CV.bmp (487x730)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FESB2GS.bmp (500x750)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FESB3GS.bmp (513x800)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FESB4GS.bmp (330x660)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SPLIT1GS.bmp (1053x2000)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SPLIT2GS.bmp (900x1600)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r-H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FESB1GS.bmp (487x730)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6096000" y="615303"/>
          <a:ext cx="5257800" cy="2821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/>
          <p:nvPr/>
        </p:nvGraphicFramePr>
        <p:xfrm>
          <a:off x="529118" y="3298372"/>
          <a:ext cx="5566880" cy="282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/>
          <p:nvPr/>
        </p:nvGraphicFramePr>
        <p:xfrm>
          <a:off x="6095999" y="3298371"/>
          <a:ext cx="5257801" cy="2752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89517" y="2762859"/>
            <a:ext cx="150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b="1" dirty="0"/>
              <a:t>CPU: red veličine </a:t>
            </a:r>
            <a:r>
              <a:rPr lang="hr-HR" sz="1200" b="1" dirty="0" err="1"/>
              <a:t>ms</a:t>
            </a:r>
            <a:endParaRPr lang="hr-HR" sz="1200" b="1" dirty="0"/>
          </a:p>
          <a:p>
            <a:r>
              <a:rPr lang="hr-HR" sz="1200" b="1" dirty="0"/>
              <a:t>GPU: red veličine </a:t>
            </a:r>
            <a:r>
              <a:rPr lang="hr-HR" sz="1200" b="1" dirty="0" err="1"/>
              <a:t>us</a:t>
            </a:r>
            <a:endParaRPr lang="hr-HR" sz="1200" b="1" dirty="0"/>
          </a:p>
        </p:txBody>
      </p:sp>
      <p:sp>
        <p:nvSpPr>
          <p:cNvPr id="14" name="Rectangle 13"/>
          <p:cNvSpPr/>
          <p:nvPr/>
        </p:nvSpPr>
        <p:spPr>
          <a:xfrm>
            <a:off x="6241312" y="1517124"/>
            <a:ext cx="202018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950689" y="2396551"/>
            <a:ext cx="290624" cy="338554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838200" y="3129095"/>
            <a:ext cx="4152900" cy="116992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41312" y="4125636"/>
            <a:ext cx="202018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095998" y="3267668"/>
            <a:ext cx="145313" cy="1031348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64535" y="4269478"/>
            <a:ext cx="202018" cy="879427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7" name="TextBox 26"/>
          <p:cNvSpPr txBox="1"/>
          <p:nvPr/>
        </p:nvSpPr>
        <p:spPr>
          <a:xfrm>
            <a:off x="7541618" y="220800"/>
            <a:ext cx="2366562" cy="3691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rgbClr val="FF0000"/>
                </a:solidFill>
              </a:rPr>
              <a:t>UTJECAJ PARALELIZMA!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23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altLang="en-US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0673" y="2227328"/>
            <a:ext cx="10515600" cy="3697612"/>
          </a:xfrm>
        </p:spPr>
        <p:txBody>
          <a:bodyPr/>
          <a:lstStyle/>
          <a:p>
            <a:r>
              <a:rPr lang="hr-HR" dirty="0" err="1"/>
              <a:t>Median</a:t>
            </a:r>
            <a:r>
              <a:rPr lang="hr-HR" dirty="0"/>
              <a:t> filtar najdjelotvornije uklanja </a:t>
            </a:r>
            <a:r>
              <a:rPr lang="hr-HR" dirty="0" err="1"/>
              <a:t>salt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pepper</a:t>
            </a:r>
            <a:r>
              <a:rPr lang="hr-HR" dirty="0"/>
              <a:t> šum</a:t>
            </a:r>
          </a:p>
          <a:p>
            <a:r>
              <a:rPr lang="hr-HR" dirty="0"/>
              <a:t>Najbolji 3x3 prozor u slučaju korištene slike</a:t>
            </a:r>
          </a:p>
          <a:p>
            <a:r>
              <a:rPr lang="hr-HR" dirty="0"/>
              <a:t>Utjecaj promjene veličine prozora</a:t>
            </a:r>
          </a:p>
          <a:p>
            <a:r>
              <a:rPr lang="hr-HR" dirty="0"/>
              <a:t>Usporedba CPU, GPU i GPU s dijeljenom memorijom</a:t>
            </a:r>
          </a:p>
          <a:p>
            <a:r>
              <a:rPr lang="hr-HR" dirty="0"/>
              <a:t>Utjecaj promjene veličine bloka</a:t>
            </a:r>
          </a:p>
          <a:p>
            <a:r>
              <a:rPr lang="hr-HR" dirty="0"/>
              <a:t>Utjecaj promjene rezolucije slike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657B-E6AC-4F45-9C42-316645E32077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27</a:t>
            </a:fld>
            <a:endParaRPr lang="hr-H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1574BE9-0D33-484D-966D-4BFD08D24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28" y="1958196"/>
            <a:ext cx="4564224" cy="1325563"/>
          </a:xfrm>
        </p:spPr>
        <p:txBody>
          <a:bodyPr>
            <a:normAutofit/>
          </a:bodyPr>
          <a:lstStyle/>
          <a:p>
            <a:r>
              <a:rPr lang="hr-HR" sz="5000" dirty="0"/>
              <a:t>Hvala na pažnji! 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5C2C84A2-CA08-4E7C-81D8-EAC30967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1F5FD-57EA-4FDB-AD7B-37B675CBCBCC}" type="datetime1">
              <a:rPr lang="hr-HR" smtClean="0"/>
              <a:t>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3D602FE-64CA-4847-BD51-B3208603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Fakultet elektrotehnike, strojarstva i brodogradnje</a:t>
            </a:r>
            <a:endParaRPr lang="hr-HR" dirty="0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013C749F-63F6-4442-B43F-51040FCD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F35C-F94B-44D0-8B59-FD5E4E1222FB}" type="slidenum">
              <a:rPr lang="hr-HR" smtClean="0"/>
              <a:t>28</a:t>
            </a:fld>
            <a:endParaRPr lang="hr-HR"/>
          </a:p>
        </p:txBody>
      </p:sp>
      <p:pic>
        <p:nvPicPr>
          <p:cNvPr id="1026" name="Picture 2" descr="Cheer Happy Two Thumbs Up Emoji">
            <a:extLst>
              <a:ext uri="{FF2B5EF4-FFF2-40B4-BE49-F238E27FC236}">
                <a16:creationId xmlns:a16="http://schemas.microsoft.com/office/drawing/2014/main" id="{F4D0850B-01FF-46A3-B399-A4EC181E1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838" y="1441741"/>
            <a:ext cx="3684037" cy="368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029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2425</Words>
  <Application>Microsoft Office PowerPoint</Application>
  <PresentationFormat>Widescreen</PresentationFormat>
  <Paragraphs>494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Office Theme</vt:lpstr>
      <vt:lpstr>PowerPoint Presentation</vt:lpstr>
      <vt:lpstr>Sadržaj</vt:lpstr>
      <vt:lpstr>Uvod</vt:lpstr>
      <vt:lpstr>Median filtar</vt:lpstr>
      <vt:lpstr>NVIDIA CUDA Toolkit</vt:lpstr>
      <vt:lpstr>OpenCV</vt:lpstr>
      <vt:lpstr>Programski kod i rezultati obrade filtrom</vt:lpstr>
      <vt:lpstr>Programski kod i rezultati obrade filtrom</vt:lpstr>
      <vt:lpstr>Programski kod i rezultati obrade filtrom</vt:lpstr>
      <vt:lpstr>Programski kod i rezultati obrade filtrom</vt:lpstr>
      <vt:lpstr>Programski kod i rezultati obrade filtrom</vt:lpstr>
      <vt:lpstr>Programski kod i rezultati obrade filtrom</vt:lpstr>
      <vt:lpstr>Rezultati obrade filtrom</vt:lpstr>
      <vt:lpstr>PowerPoint Presentation</vt:lpstr>
      <vt:lpstr>Analiza GPU arhitekture i performansi</vt:lpstr>
      <vt:lpstr>Analiza GPU arhitekture i performansi</vt:lpstr>
      <vt:lpstr>Analiza GPU arhitekture i performansi</vt:lpstr>
      <vt:lpstr>Analiza GPU arhitekture i performansi</vt:lpstr>
      <vt:lpstr>Analiza GPU arhitekture i performansi</vt:lpstr>
      <vt:lpstr>Analiza GPU arhitekture i performansi</vt:lpstr>
      <vt:lpstr>Kritička analiza performansi </vt:lpstr>
      <vt:lpstr>Kritička analiza performansi </vt:lpstr>
      <vt:lpstr>Kritička analiza performansi </vt:lpstr>
      <vt:lpstr>Kritička analiza performansi </vt:lpstr>
      <vt:lpstr>Kritička analiza performansi </vt:lpstr>
      <vt:lpstr>PowerPoint Presentation</vt:lpstr>
      <vt:lpstr>Zaključak</vt:lpstr>
      <vt:lpstr>Hvala na pažnji!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Blaskic</dc:creator>
  <cp:lastModifiedBy>Robert Blaškić</cp:lastModifiedBy>
  <cp:revision>186</cp:revision>
  <dcterms:created xsi:type="dcterms:W3CDTF">2021-06-13T19:24:00Z</dcterms:created>
  <dcterms:modified xsi:type="dcterms:W3CDTF">2026-01-04T21:21:05Z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1033-10.1.0.5644</vt:lpwstr>
  </property>
</Properties>
</file>